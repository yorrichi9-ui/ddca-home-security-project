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9" r:id="rId4"/>
    <p:sldId id="262" r:id="rId5"/>
    <p:sldId id="263" r:id="rId6"/>
    <p:sldId id="267" r:id="rId7"/>
    <p:sldId id="268" r:id="rId8"/>
    <p:sldId id="270" r:id="rId9"/>
    <p:sldId id="275" r:id="rId10"/>
    <p:sldId id="277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6" d="100"/>
          <a:sy n="96" d="100"/>
        </p:scale>
        <p:origin x="149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Smart_Home_Security_Prototype.html" TargetMode="Externa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791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8046720" cy="566928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>
              <a:defRPr sz="3000" b="1">
                <a:solidFill>
                  <a:srgbClr val="1C304A"/>
                </a:solidFill>
                <a:latin typeface="Aptos"/>
              </a:defRPr>
            </a:pPr>
            <a:r>
              <a:t>SMART HOME SECURITY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950976"/>
            <a:ext cx="8595360" cy="32004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>
              <a:defRPr sz="1400" b="1">
                <a:solidFill>
                  <a:srgbClr val="379193"/>
                </a:solidFill>
                <a:latin typeface="Aptos"/>
              </a:defRPr>
            </a:pPr>
            <a:r>
              <a:t>INTRUDER DETECTION USING DIGITAL LOGIC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491472" y="438912"/>
            <a:ext cx="2057400" cy="603504"/>
          </a:xfrm>
          <a:prstGeom prst="roundRect">
            <a:avLst/>
          </a:prstGeom>
          <a:solidFill>
            <a:srgbClr val="E8F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582912" y="594360"/>
            <a:ext cx="1874519" cy="219456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ctr">
              <a:defRPr sz="1100" b="1">
                <a:solidFill>
                  <a:srgbClr val="379193"/>
                </a:solidFill>
                <a:latin typeface="Aptos"/>
              </a:defRPr>
            </a:pPr>
            <a:r>
              <a:t>PROJECT POSTER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389888"/>
            <a:ext cx="10881360" cy="530352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>
              <a:defRPr sz="1600" b="0">
                <a:solidFill>
                  <a:srgbClr val="526271"/>
                </a:solidFill>
                <a:latin typeface="Aptos"/>
              </a:defRPr>
            </a:pPr>
            <a:r>
              <a:t>A simple combinational circuit that checks sensor inputs and activates an alarm when the system is armed and a threat is detected.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148840"/>
            <a:ext cx="3493008" cy="1234440"/>
          </a:xfrm>
          <a:prstGeom prst="roundRect">
            <a:avLst/>
          </a:prstGeom>
          <a:solidFill>
            <a:srgbClr val="E9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86384" y="2295144"/>
            <a:ext cx="3163824" cy="246888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>
              <a:defRPr sz="1200" b="1">
                <a:solidFill>
                  <a:srgbClr val="379193"/>
                </a:solidFill>
                <a:latin typeface="Aptos"/>
              </a:defRPr>
            </a:pPr>
            <a:r>
              <a:t>THE PROBLEM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" y="2624328"/>
            <a:ext cx="3163824" cy="585216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>
              <a:defRPr sz="1300" b="0">
                <a:solidFill>
                  <a:srgbClr val="1C304A"/>
                </a:solidFill>
                <a:latin typeface="Aptos"/>
              </a:defRPr>
            </a:pPr>
            <a:r>
              <a:t>Doors and motion can signal an intrusion. Manual monitoring can miss events.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2148840"/>
            <a:ext cx="3493008" cy="1234440"/>
          </a:xfrm>
          <a:prstGeom prst="roundRect">
            <a:avLst/>
          </a:prstGeom>
          <a:solidFill>
            <a:srgbClr val="E8F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07992" y="2295144"/>
            <a:ext cx="3163824" cy="246888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>
              <a:defRPr sz="1200" b="1">
                <a:solidFill>
                  <a:srgbClr val="379193"/>
                </a:solidFill>
                <a:latin typeface="Aptos"/>
              </a:defRPr>
            </a:pPr>
            <a:r>
              <a:t>THE SOLUTION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07992" y="2624328"/>
            <a:ext cx="3163824" cy="585216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>
              <a:defRPr sz="1300" b="0">
                <a:solidFill>
                  <a:srgbClr val="1C304A"/>
                </a:solidFill>
                <a:latin typeface="Aptos"/>
              </a:defRPr>
            </a:pPr>
            <a:r>
              <a:t>Combine sensor signals with logic gates to make a clear ON/OFF decision.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65008" y="2148840"/>
            <a:ext cx="3493008" cy="1234440"/>
          </a:xfrm>
          <a:prstGeom prst="roundRect">
            <a:avLst/>
          </a:prstGeom>
          <a:solidFill>
            <a:srgbClr val="FFF7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0" y="2295144"/>
            <a:ext cx="3163824" cy="246888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>
              <a:defRPr sz="1200" b="1">
                <a:solidFill>
                  <a:srgbClr val="379193"/>
                </a:solidFill>
                <a:latin typeface="Aptos"/>
              </a:defRPr>
            </a:pPr>
            <a:r>
              <a:t>THE OUTPUT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2624328"/>
            <a:ext cx="3163824" cy="585216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>
              <a:defRPr sz="1300" b="0">
                <a:solidFill>
                  <a:srgbClr val="1C304A"/>
                </a:solidFill>
                <a:latin typeface="Aptos"/>
              </a:defRPr>
            </a:pPr>
            <a:r>
              <a:t>When armed and a threat is present, the alarm turns 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" y="3675887"/>
            <a:ext cx="5166360" cy="1508760"/>
          </a:xfrm>
          <a:prstGeom prst="roundRect">
            <a:avLst/>
          </a:prstGeom>
          <a:solidFill>
            <a:srgbClr val="E9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50392" y="3858768"/>
            <a:ext cx="4526280" cy="22860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>
              <a:defRPr sz="1200" b="1">
                <a:solidFill>
                  <a:srgbClr val="379193"/>
                </a:solidFill>
                <a:latin typeface="Aptos"/>
              </a:defRPr>
            </a:pPr>
            <a:r>
              <a:t>CORE BOOLEAN EXPRESSION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" y="4224528"/>
            <a:ext cx="4572000" cy="438912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>
              <a:defRPr sz="2300" b="1">
                <a:solidFill>
                  <a:srgbClr val="1C304A"/>
                </a:solidFill>
                <a:latin typeface="Aptos"/>
              </a:defRPr>
            </a:pPr>
            <a:r>
              <a:t>ALARM = A AND (D OR M)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4736592"/>
            <a:ext cx="4572000" cy="22860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>
              <a:defRPr sz="1000" b="0">
                <a:solidFill>
                  <a:srgbClr val="526271"/>
                </a:solidFill>
                <a:latin typeface="Aptos"/>
              </a:defRPr>
            </a:pPr>
            <a:r>
              <a:t>A = Armed   •   D = Door open   •   M = Motion detected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16752" y="3675887"/>
            <a:ext cx="5541264" cy="1508760"/>
          </a:xfrm>
          <a:prstGeom prst="roundRect">
            <a:avLst/>
          </a:prstGeom>
          <a:solidFill>
            <a:srgbClr val="E8F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236208" y="3858768"/>
            <a:ext cx="4526280" cy="22860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>
              <a:defRPr sz="1200" b="1">
                <a:solidFill>
                  <a:srgbClr val="379193"/>
                </a:solidFill>
                <a:latin typeface="Aptos"/>
              </a:defRPr>
            </a:pPr>
            <a:r>
              <a:t>HOW IT WORKS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27648" y="4315968"/>
            <a:ext cx="132588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791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19088" y="4462272"/>
            <a:ext cx="1143000" cy="18288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ctr">
              <a:defRPr sz="1300" b="1">
                <a:solidFill>
                  <a:srgbClr val="1C304A"/>
                </a:solidFill>
                <a:latin typeface="Aptos"/>
              </a:defRPr>
            </a:pPr>
            <a:r>
              <a:t>D OR 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90688" y="4407408"/>
            <a:ext cx="411480" cy="27432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ctr">
              <a:defRPr sz="2000" b="1">
                <a:solidFill>
                  <a:srgbClr val="379193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57031" y="4315968"/>
            <a:ext cx="1298448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791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348472" y="4462272"/>
            <a:ext cx="1115568" cy="18288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ctr">
              <a:defRPr sz="1300" b="1">
                <a:solidFill>
                  <a:srgbClr val="1C304A"/>
                </a:solidFill>
                <a:latin typeface="Aptos"/>
              </a:defRPr>
            </a:pPr>
            <a:r>
              <a:t>A AND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74352" y="4407408"/>
            <a:ext cx="411480" cy="27432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ctr">
              <a:defRPr sz="2000" b="1">
                <a:solidFill>
                  <a:srgbClr val="379193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131552" y="4315968"/>
            <a:ext cx="1051560" cy="502920"/>
          </a:xfrm>
          <a:prstGeom prst="roundRect">
            <a:avLst/>
          </a:prstGeom>
          <a:solidFill>
            <a:srgbClr val="DC73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0195560" y="4462272"/>
            <a:ext cx="914400" cy="18288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ALARM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81928" y="4892040"/>
            <a:ext cx="5029200" cy="201168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>
              <a:defRPr sz="1000" b="0">
                <a:solidFill>
                  <a:srgbClr val="526271"/>
                </a:solidFill>
                <a:latin typeface="Aptos"/>
              </a:defRPr>
            </a:pPr>
            <a:r>
              <a:t>OR checks for a threat; AND checks that security is armed.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5596128"/>
            <a:ext cx="12191695" cy="1261872"/>
          </a:xfrm>
          <a:prstGeom prst="rect">
            <a:avLst/>
          </a:prstGeom>
          <a:solidFill>
            <a:srgbClr val="1C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40080" y="5833872"/>
            <a:ext cx="1508760" cy="246888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>
              <a:defRPr sz="1200" b="1">
                <a:solidFill>
                  <a:srgbClr val="7DDACD"/>
                </a:solidFill>
                <a:latin typeface="Aptos"/>
              </a:defRPr>
            </a:pPr>
            <a:r>
              <a:t>KEY TAKEAWAY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148840" y="5769864"/>
            <a:ext cx="6492240" cy="36576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>
              <a:defRPr sz="1900" b="1">
                <a:solidFill>
                  <a:srgbClr val="FFFFFF"/>
                </a:solidFill>
                <a:latin typeface="Aptos"/>
              </a:defRPr>
            </a:pPr>
            <a:r>
              <a:t>Inputs  →  Boolean logic  →  Alarm decision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" y="6254496"/>
            <a:ext cx="9875520" cy="256032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>
              <a:defRPr sz="1200" b="0">
                <a:solidFill>
                  <a:srgbClr val="DCE7EF"/>
                </a:solidFill>
                <a:latin typeface="Aptos"/>
              </a:defRPr>
            </a:pPr>
            <a:r>
              <a:t>A practical application of AND / OR gates, truth tables and circuit testing.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241280" y="6245352"/>
            <a:ext cx="1143000" cy="219456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r">
              <a:defRPr sz="1000" b="1">
                <a:solidFill>
                  <a:srgbClr val="7DDACD"/>
                </a:solidFill>
                <a:latin typeface="Aptos"/>
              </a:defRPr>
            </a:pPr>
            <a:r>
              <a:t>10 SLIDES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14400" y="0"/>
            <a:ext cx="731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828800" y="0"/>
            <a:ext cx="731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743200" y="0"/>
            <a:ext cx="731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57600" y="0"/>
            <a:ext cx="731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0" y="0"/>
            <a:ext cx="731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0" y="0"/>
            <a:ext cx="731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400800" y="0"/>
            <a:ext cx="731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315200" y="0"/>
            <a:ext cx="731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8229600" y="0"/>
            <a:ext cx="731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9144000" y="0"/>
            <a:ext cx="731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0058400" y="0"/>
            <a:ext cx="731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0972800" y="0"/>
            <a:ext cx="731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1887200" y="0"/>
            <a:ext cx="731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0" y="0"/>
            <a:ext cx="12191695" cy="731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0" y="914400"/>
            <a:ext cx="12191695" cy="731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0" y="1828800"/>
            <a:ext cx="12191695" cy="731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0" y="2743200"/>
            <a:ext cx="12191695" cy="731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0" y="3657600"/>
            <a:ext cx="12191695" cy="731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0" y="4572000"/>
            <a:ext cx="12191695" cy="731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0" y="5486400"/>
            <a:ext cx="12191695" cy="731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0" y="6400800"/>
            <a:ext cx="12191695" cy="731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D7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0080" y="411480"/>
            <a:ext cx="10789920" cy="640080"/>
          </a:xfrm>
          <a:prstGeom prst="rect">
            <a:avLst/>
          </a:prstGeom>
          <a:noFill/>
          <a:ln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F2F7FC"/>
                </a:solidFill>
                <a:latin typeface="Aptos Display"/>
              </a:defRPr>
            </a:pPr>
            <a:r>
              <a:rPr>
                <a:solidFill>
                  <a:srgbClr val="18304E"/>
                </a:solidFill>
                <a:latin typeface="Aptos"/>
              </a:rPr>
              <a:t>01 • THE PROBLEM</a:t>
            </a:r>
          </a:p>
        </p:txBody>
      </p:sp>
      <p:sp>
        <p:nvSpPr>
          <p:cNvPr id="26" name="Oval 25"/>
          <p:cNvSpPr/>
          <p:nvPr/>
        </p:nvSpPr>
        <p:spPr>
          <a:xfrm>
            <a:off x="685800" y="1600200"/>
            <a:ext cx="457200" cy="457200"/>
          </a:xfrm>
          <a:prstGeom prst="ellipse">
            <a:avLst/>
          </a:prstGeom>
          <a:solidFill>
            <a:srgbClr val="2D7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85800" y="1673352"/>
            <a:ext cx="457200" cy="274320"/>
          </a:xfrm>
          <a:prstGeom prst="rect">
            <a:avLst/>
          </a:prstGeom>
          <a:noFill/>
          <a:ln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070D18"/>
                </a:solidFill>
              </a:defRPr>
            </a:pPr>
            <a:r>
              <a:rPr>
                <a:solidFill>
                  <a:srgbClr val="18304E"/>
                </a:solidFill>
                <a:latin typeface="Aptos"/>
              </a:rPr>
              <a:t>1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325880" y="1572768"/>
            <a:ext cx="9784080" cy="868680"/>
          </a:xfrm>
          <a:prstGeom prst="roundRect">
            <a:avLst/>
          </a:prstGeom>
          <a:solidFill>
            <a:srgbClr val="F4F8FC"/>
          </a:solidFill>
          <a:ln>
            <a:solidFill>
              <a:srgbClr val="1C33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600200" y="1673352"/>
            <a:ext cx="9052560" cy="640080"/>
          </a:xfrm>
          <a:prstGeom prst="rect">
            <a:avLst/>
          </a:prstGeom>
          <a:noFill/>
          <a:ln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2F7FC"/>
                </a:solidFill>
                <a:latin typeface="Aptos"/>
              </a:defRPr>
            </a:pPr>
            <a:r>
              <a:rPr>
                <a:solidFill>
                  <a:srgbClr val="18304E"/>
                </a:solidFill>
                <a:latin typeface="Aptos"/>
              </a:rPr>
              <a:t>Homes have multiple entry points</a:t>
            </a:r>
          </a:p>
          <a:p>
            <a:pPr>
              <a:defRPr sz="1100">
                <a:solidFill>
                  <a:srgbClr val="A0B2C6"/>
                </a:solidFill>
                <a:latin typeface="Aptos"/>
              </a:defRPr>
            </a:pPr>
            <a:r>
              <a:rPr>
                <a:solidFill>
                  <a:srgbClr val="18304E"/>
                </a:solidFill>
                <a:latin typeface="Aptos"/>
              </a:rPr>
              <a:t>Doors, windows and protected areas can each become a security risk.</a:t>
            </a:r>
          </a:p>
        </p:txBody>
      </p:sp>
      <p:sp>
        <p:nvSpPr>
          <p:cNvPr id="30" name="Oval 29"/>
          <p:cNvSpPr/>
          <p:nvPr/>
        </p:nvSpPr>
        <p:spPr>
          <a:xfrm>
            <a:off x="685800" y="3017520"/>
            <a:ext cx="457200" cy="457200"/>
          </a:xfrm>
          <a:prstGeom prst="ellipse">
            <a:avLst/>
          </a:prstGeom>
          <a:solidFill>
            <a:srgbClr val="2D7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85800" y="3090672"/>
            <a:ext cx="457200" cy="274320"/>
          </a:xfrm>
          <a:prstGeom prst="rect">
            <a:avLst/>
          </a:prstGeom>
          <a:noFill/>
          <a:ln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070D18"/>
                </a:solidFill>
              </a:defRPr>
            </a:pPr>
            <a:r>
              <a:rPr>
                <a:solidFill>
                  <a:srgbClr val="18304E"/>
                </a:solidFill>
                <a:latin typeface="Aptos"/>
              </a:rPr>
              <a:t>2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325880" y="2990088"/>
            <a:ext cx="9784080" cy="868680"/>
          </a:xfrm>
          <a:prstGeom prst="roundRect">
            <a:avLst/>
          </a:prstGeom>
          <a:solidFill>
            <a:srgbClr val="F4F8FC"/>
          </a:solidFill>
          <a:ln>
            <a:solidFill>
              <a:srgbClr val="1C33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600200" y="3090672"/>
            <a:ext cx="9052560" cy="640080"/>
          </a:xfrm>
          <a:prstGeom prst="rect">
            <a:avLst/>
          </a:prstGeom>
          <a:noFill/>
          <a:ln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2F7FC"/>
                </a:solidFill>
                <a:latin typeface="Aptos"/>
              </a:defRPr>
            </a:pPr>
            <a:r>
              <a:rPr>
                <a:solidFill>
                  <a:srgbClr val="18304E"/>
                </a:solidFill>
                <a:latin typeface="Aptos"/>
              </a:rPr>
              <a:t>Human monitoring is limited</a:t>
            </a:r>
          </a:p>
          <a:p>
            <a:pPr>
              <a:defRPr sz="1100">
                <a:solidFill>
                  <a:srgbClr val="A0B2C6"/>
                </a:solidFill>
                <a:latin typeface="Aptos"/>
              </a:defRPr>
            </a:pPr>
            <a:r>
              <a:rPr>
                <a:solidFill>
                  <a:srgbClr val="18304E"/>
                </a:solidFill>
                <a:latin typeface="Aptos"/>
              </a:rPr>
              <a:t>A digital circuit can continuously evaluate conditions without fatigue.</a:t>
            </a:r>
          </a:p>
        </p:txBody>
      </p:sp>
      <p:sp>
        <p:nvSpPr>
          <p:cNvPr id="34" name="Oval 33"/>
          <p:cNvSpPr/>
          <p:nvPr/>
        </p:nvSpPr>
        <p:spPr>
          <a:xfrm>
            <a:off x="685800" y="4434840"/>
            <a:ext cx="457200" cy="457200"/>
          </a:xfrm>
          <a:prstGeom prst="ellipse">
            <a:avLst/>
          </a:prstGeom>
          <a:solidFill>
            <a:srgbClr val="2D7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85800" y="4507992"/>
            <a:ext cx="457200" cy="274320"/>
          </a:xfrm>
          <a:prstGeom prst="rect">
            <a:avLst/>
          </a:prstGeom>
          <a:noFill/>
          <a:ln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070D18"/>
                </a:solidFill>
              </a:defRPr>
            </a:pPr>
            <a:r>
              <a:rPr>
                <a:solidFill>
                  <a:srgbClr val="18304E"/>
                </a:solidFill>
                <a:latin typeface="Aptos"/>
              </a:rPr>
              <a:t>3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325880" y="4407407"/>
            <a:ext cx="9784080" cy="868680"/>
          </a:xfrm>
          <a:prstGeom prst="roundRect">
            <a:avLst/>
          </a:prstGeom>
          <a:solidFill>
            <a:srgbClr val="F4F8FC"/>
          </a:solidFill>
          <a:ln>
            <a:solidFill>
              <a:srgbClr val="1C33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600200" y="4507992"/>
            <a:ext cx="9052560" cy="640080"/>
          </a:xfrm>
          <a:prstGeom prst="rect">
            <a:avLst/>
          </a:prstGeom>
          <a:noFill/>
          <a:ln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2F7FC"/>
                </a:solidFill>
                <a:latin typeface="Aptos"/>
              </a:defRPr>
            </a:pPr>
            <a:r>
              <a:rPr>
                <a:solidFill>
                  <a:srgbClr val="18304E"/>
                </a:solidFill>
                <a:latin typeface="Aptos"/>
              </a:rPr>
              <a:t>Need for simple decision-making</a:t>
            </a:r>
          </a:p>
          <a:p>
            <a:pPr>
              <a:defRPr sz="1100">
                <a:solidFill>
                  <a:srgbClr val="A0B2C6"/>
                </a:solidFill>
                <a:latin typeface="Aptos"/>
              </a:defRPr>
            </a:pPr>
            <a:r>
              <a:rPr>
                <a:solidFill>
                  <a:srgbClr val="18304E"/>
                </a:solidFill>
                <a:latin typeface="Aptos"/>
              </a:rPr>
              <a:t>The system converts real-world states into clear binary decisions.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  <a:ln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26D3FF"/>
                </a:solidFill>
              </a:defRPr>
            </a:pPr>
            <a:r>
              <a:rPr>
                <a:solidFill>
                  <a:srgbClr val="18304E"/>
                </a:solidFill>
                <a:latin typeface="Aptos"/>
              </a:rPr>
              <a:t>02</a:t>
            </a:r>
          </a:p>
        </p:txBody>
      </p:sp>
      <p:sp>
        <p:nvSpPr>
          <p:cNvPr id="39" name="Hexagon 38"/>
          <p:cNvSpPr/>
          <p:nvPr/>
        </p:nvSpPr>
        <p:spPr>
          <a:xfrm>
            <a:off x="11109960" y="384048"/>
            <a:ext cx="352044" cy="402336"/>
          </a:xfrm>
          <a:prstGeom prst="hexagon">
            <a:avLst/>
          </a:prstGeom>
          <a:solidFill>
            <a:srgbClr val="2D7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11220602" y="484632"/>
            <a:ext cx="130759" cy="130759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2D7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14400" y="0"/>
            <a:ext cx="731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828800" y="0"/>
            <a:ext cx="731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743200" y="0"/>
            <a:ext cx="731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57600" y="0"/>
            <a:ext cx="731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0" y="0"/>
            <a:ext cx="731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0" y="0"/>
            <a:ext cx="731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400800" y="0"/>
            <a:ext cx="731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315200" y="0"/>
            <a:ext cx="731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8229600" y="0"/>
            <a:ext cx="731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9144000" y="0"/>
            <a:ext cx="731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0058400" y="0"/>
            <a:ext cx="731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0972800" y="0"/>
            <a:ext cx="731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1887200" y="0"/>
            <a:ext cx="731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0" y="0"/>
            <a:ext cx="12191695" cy="731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0" y="914400"/>
            <a:ext cx="12191695" cy="731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0" y="1828800"/>
            <a:ext cx="12191695" cy="731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0" y="2743200"/>
            <a:ext cx="12191695" cy="731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0" y="3657600"/>
            <a:ext cx="12191695" cy="731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0" y="4572000"/>
            <a:ext cx="12191695" cy="731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0" y="5486400"/>
            <a:ext cx="12191695" cy="731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0" y="6400800"/>
            <a:ext cx="12191695" cy="731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D7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0080" y="411480"/>
            <a:ext cx="10789920" cy="640080"/>
          </a:xfrm>
          <a:prstGeom prst="rect">
            <a:avLst/>
          </a:prstGeom>
          <a:noFill/>
          <a:ln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F2F7FC"/>
                </a:solidFill>
                <a:latin typeface="Aptos Display"/>
              </a:defRPr>
            </a:pPr>
            <a:r>
              <a:rPr>
                <a:solidFill>
                  <a:srgbClr val="18304E"/>
                </a:solidFill>
                <a:latin typeface="Aptos"/>
              </a:rPr>
              <a:t>03 • SYSTEM AT A GLANCE</a:t>
            </a:r>
          </a:p>
        </p:txBody>
      </p:sp>
      <p:sp>
        <p:nvSpPr>
          <p:cNvPr id="26" name="Oval 25"/>
          <p:cNvSpPr/>
          <p:nvPr/>
        </p:nvSpPr>
        <p:spPr>
          <a:xfrm>
            <a:off x="685800" y="1600200"/>
            <a:ext cx="457200" cy="457200"/>
          </a:xfrm>
          <a:prstGeom prst="ellipse">
            <a:avLst/>
          </a:prstGeom>
          <a:solidFill>
            <a:srgbClr val="2D7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85800" y="1673352"/>
            <a:ext cx="457200" cy="274320"/>
          </a:xfrm>
          <a:prstGeom prst="rect">
            <a:avLst/>
          </a:prstGeom>
          <a:noFill/>
          <a:ln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070D18"/>
                </a:solidFill>
              </a:defRPr>
            </a:pPr>
            <a:r>
              <a:rPr>
                <a:solidFill>
                  <a:srgbClr val="18304E"/>
                </a:solidFill>
                <a:latin typeface="Aptos"/>
              </a:rPr>
              <a:t>1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325880" y="1572768"/>
            <a:ext cx="9784080" cy="868680"/>
          </a:xfrm>
          <a:prstGeom prst="roundRect">
            <a:avLst/>
          </a:prstGeom>
          <a:solidFill>
            <a:srgbClr val="F4F8FC"/>
          </a:solidFill>
          <a:ln>
            <a:solidFill>
              <a:srgbClr val="1C33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600200" y="1673352"/>
            <a:ext cx="9052560" cy="640080"/>
          </a:xfrm>
          <a:prstGeom prst="rect">
            <a:avLst/>
          </a:prstGeom>
          <a:noFill/>
          <a:ln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2F7FC"/>
                </a:solidFill>
                <a:latin typeface="Aptos"/>
              </a:defRPr>
            </a:pPr>
            <a:r>
              <a:rPr>
                <a:solidFill>
                  <a:srgbClr val="18304E"/>
                </a:solidFill>
                <a:latin typeface="Aptos"/>
              </a:rPr>
              <a:t>Inputs</a:t>
            </a:r>
          </a:p>
          <a:p>
            <a:pPr>
              <a:defRPr sz="1100">
                <a:solidFill>
                  <a:srgbClr val="A0B2C6"/>
                </a:solidFill>
                <a:latin typeface="Aptos"/>
              </a:defRPr>
            </a:pPr>
            <a:r>
              <a:rPr>
                <a:solidFill>
                  <a:srgbClr val="18304E"/>
                </a:solidFill>
                <a:latin typeface="Aptos"/>
              </a:rPr>
              <a:t>Door sensor, window sensor, motion sensor and security-mode signal.</a:t>
            </a:r>
          </a:p>
        </p:txBody>
      </p:sp>
      <p:sp>
        <p:nvSpPr>
          <p:cNvPr id="30" name="Oval 29"/>
          <p:cNvSpPr/>
          <p:nvPr/>
        </p:nvSpPr>
        <p:spPr>
          <a:xfrm>
            <a:off x="685800" y="3017520"/>
            <a:ext cx="457200" cy="457200"/>
          </a:xfrm>
          <a:prstGeom prst="ellipse">
            <a:avLst/>
          </a:prstGeom>
          <a:solidFill>
            <a:srgbClr val="2D7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85800" y="3090672"/>
            <a:ext cx="457200" cy="274320"/>
          </a:xfrm>
          <a:prstGeom prst="rect">
            <a:avLst/>
          </a:prstGeom>
          <a:noFill/>
          <a:ln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070D18"/>
                </a:solidFill>
              </a:defRPr>
            </a:pPr>
            <a:r>
              <a:rPr>
                <a:solidFill>
                  <a:srgbClr val="18304E"/>
                </a:solidFill>
                <a:latin typeface="Aptos"/>
              </a:rPr>
              <a:t>2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325880" y="2990088"/>
            <a:ext cx="9784080" cy="868680"/>
          </a:xfrm>
          <a:prstGeom prst="roundRect">
            <a:avLst/>
          </a:prstGeom>
          <a:solidFill>
            <a:srgbClr val="F4F8FC"/>
          </a:solidFill>
          <a:ln>
            <a:solidFill>
              <a:srgbClr val="1C33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600200" y="3090672"/>
            <a:ext cx="9052560" cy="640080"/>
          </a:xfrm>
          <a:prstGeom prst="rect">
            <a:avLst/>
          </a:prstGeom>
          <a:noFill/>
          <a:ln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2F7FC"/>
                </a:solidFill>
                <a:latin typeface="Aptos"/>
              </a:defRPr>
            </a:pPr>
            <a:r>
              <a:rPr>
                <a:solidFill>
                  <a:srgbClr val="18304E"/>
                </a:solidFill>
                <a:latin typeface="Aptos"/>
              </a:rPr>
              <a:t>Logic layer</a:t>
            </a:r>
          </a:p>
          <a:p>
            <a:pPr>
              <a:defRPr sz="1100">
                <a:solidFill>
                  <a:srgbClr val="A0B2C6"/>
                </a:solidFill>
                <a:latin typeface="Aptos"/>
              </a:defRPr>
            </a:pPr>
            <a:r>
              <a:rPr>
                <a:solidFill>
                  <a:srgbClr val="18304E"/>
                </a:solidFill>
                <a:latin typeface="Aptos"/>
              </a:rPr>
              <a:t>Combinational gates evaluate the current input combination.</a:t>
            </a:r>
          </a:p>
        </p:txBody>
      </p:sp>
      <p:sp>
        <p:nvSpPr>
          <p:cNvPr id="34" name="Oval 33"/>
          <p:cNvSpPr/>
          <p:nvPr/>
        </p:nvSpPr>
        <p:spPr>
          <a:xfrm>
            <a:off x="685800" y="4434840"/>
            <a:ext cx="457200" cy="457200"/>
          </a:xfrm>
          <a:prstGeom prst="ellipse">
            <a:avLst/>
          </a:prstGeom>
          <a:solidFill>
            <a:srgbClr val="2D7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85800" y="4507992"/>
            <a:ext cx="457200" cy="274320"/>
          </a:xfrm>
          <a:prstGeom prst="rect">
            <a:avLst/>
          </a:prstGeom>
          <a:noFill/>
          <a:ln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070D18"/>
                </a:solidFill>
              </a:defRPr>
            </a:pPr>
            <a:r>
              <a:rPr>
                <a:solidFill>
                  <a:srgbClr val="18304E"/>
                </a:solidFill>
                <a:latin typeface="Aptos"/>
              </a:rPr>
              <a:t>3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325880" y="4407407"/>
            <a:ext cx="9784080" cy="868680"/>
          </a:xfrm>
          <a:prstGeom prst="roundRect">
            <a:avLst/>
          </a:prstGeom>
          <a:solidFill>
            <a:srgbClr val="F4F8FC"/>
          </a:solidFill>
          <a:ln>
            <a:solidFill>
              <a:srgbClr val="1C33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600200" y="4507992"/>
            <a:ext cx="9052560" cy="640080"/>
          </a:xfrm>
          <a:prstGeom prst="rect">
            <a:avLst/>
          </a:prstGeom>
          <a:noFill/>
          <a:ln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2F7FC"/>
                </a:solidFill>
                <a:latin typeface="Aptos"/>
              </a:defRPr>
            </a:pPr>
            <a:r>
              <a:rPr>
                <a:solidFill>
                  <a:srgbClr val="18304E"/>
                </a:solidFill>
                <a:latin typeface="Aptos"/>
              </a:rPr>
              <a:t>Outputs</a:t>
            </a:r>
          </a:p>
          <a:p>
            <a:pPr>
              <a:defRPr sz="1100">
                <a:solidFill>
                  <a:srgbClr val="A0B2C6"/>
                </a:solidFill>
                <a:latin typeface="Aptos"/>
              </a:defRPr>
            </a:pPr>
            <a:r>
              <a:rPr>
                <a:solidFill>
                  <a:srgbClr val="18304E"/>
                </a:solidFill>
                <a:latin typeface="Aptos"/>
              </a:rPr>
              <a:t>Alarm, LED status or buzzer indicates the system decision.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  <a:ln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26D3FF"/>
                </a:solidFill>
              </a:defRPr>
            </a:pPr>
            <a:r>
              <a:rPr>
                <a:solidFill>
                  <a:srgbClr val="18304E"/>
                </a:solidFill>
                <a:latin typeface="Aptos"/>
              </a:rPr>
              <a:t>04</a:t>
            </a:r>
          </a:p>
        </p:txBody>
      </p:sp>
      <p:sp>
        <p:nvSpPr>
          <p:cNvPr id="39" name="Hexagon 38"/>
          <p:cNvSpPr/>
          <p:nvPr/>
        </p:nvSpPr>
        <p:spPr>
          <a:xfrm>
            <a:off x="11109960" y="384048"/>
            <a:ext cx="352044" cy="402336"/>
          </a:xfrm>
          <a:prstGeom prst="hexagon">
            <a:avLst/>
          </a:prstGeom>
          <a:solidFill>
            <a:srgbClr val="2D7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11220602" y="484632"/>
            <a:ext cx="130759" cy="130759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ounded Rectangle 40"/>
          <p:cNvSpPr/>
          <p:nvPr/>
        </p:nvSpPr>
        <p:spPr>
          <a:xfrm>
            <a:off x="914400" y="5349240"/>
            <a:ext cx="2834640" cy="1005840"/>
          </a:xfrm>
          <a:prstGeom prst="roundRect">
            <a:avLst/>
          </a:prstGeom>
          <a:solidFill>
            <a:srgbClr val="F4F8FC"/>
          </a:solidFill>
          <a:ln>
            <a:solidFill>
              <a:srgbClr val="2D7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1051560" y="5605272"/>
            <a:ext cx="2560320" cy="502920"/>
          </a:xfrm>
          <a:prstGeom prst="rect">
            <a:avLst/>
          </a:prstGeom>
          <a:noFill/>
          <a:ln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2F7FC"/>
                </a:solidFill>
              </a:defRPr>
            </a:pPr>
            <a:r>
              <a:rPr>
                <a:solidFill>
                  <a:srgbClr val="18304E"/>
                </a:solidFill>
                <a:latin typeface="Aptos"/>
              </a:rPr>
              <a:t>SENSORS</a:t>
            </a:r>
          </a:p>
        </p:txBody>
      </p:sp>
      <p:sp>
        <p:nvSpPr>
          <p:cNvPr id="43" name="Right Arrow 42"/>
          <p:cNvSpPr/>
          <p:nvPr/>
        </p:nvSpPr>
        <p:spPr>
          <a:xfrm>
            <a:off x="3822191" y="5650992"/>
            <a:ext cx="438912" cy="384048"/>
          </a:xfrm>
          <a:prstGeom prst="rightArrow">
            <a:avLst/>
          </a:prstGeom>
          <a:solidFill>
            <a:srgbClr val="36E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ounded Rectangle 43"/>
          <p:cNvSpPr/>
          <p:nvPr/>
        </p:nvSpPr>
        <p:spPr>
          <a:xfrm>
            <a:off x="4343400" y="5349240"/>
            <a:ext cx="2834640" cy="1005840"/>
          </a:xfrm>
          <a:prstGeom prst="roundRect">
            <a:avLst/>
          </a:prstGeom>
          <a:solidFill>
            <a:srgbClr val="F4F8FC"/>
          </a:solidFill>
          <a:ln>
            <a:solidFill>
              <a:srgbClr val="2D7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4480560" y="5605272"/>
            <a:ext cx="2560320" cy="502920"/>
          </a:xfrm>
          <a:prstGeom prst="rect">
            <a:avLst/>
          </a:prstGeom>
          <a:noFill/>
          <a:ln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2F7FC"/>
                </a:solidFill>
              </a:defRPr>
            </a:pPr>
            <a:r>
              <a:rPr>
                <a:solidFill>
                  <a:srgbClr val="18304E"/>
                </a:solidFill>
                <a:latin typeface="Aptos"/>
              </a:rPr>
              <a:t>LOGIC</a:t>
            </a:r>
          </a:p>
        </p:txBody>
      </p:sp>
      <p:sp>
        <p:nvSpPr>
          <p:cNvPr id="46" name="Right Arrow 45"/>
          <p:cNvSpPr/>
          <p:nvPr/>
        </p:nvSpPr>
        <p:spPr>
          <a:xfrm>
            <a:off x="7251192" y="5650992"/>
            <a:ext cx="438912" cy="384048"/>
          </a:xfrm>
          <a:prstGeom prst="rightArrow">
            <a:avLst/>
          </a:prstGeom>
          <a:solidFill>
            <a:srgbClr val="36E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ounded Rectangle 46"/>
          <p:cNvSpPr/>
          <p:nvPr/>
        </p:nvSpPr>
        <p:spPr>
          <a:xfrm>
            <a:off x="7772400" y="5349240"/>
            <a:ext cx="2834640" cy="1005840"/>
          </a:xfrm>
          <a:prstGeom prst="roundRect">
            <a:avLst/>
          </a:prstGeom>
          <a:solidFill>
            <a:srgbClr val="F4F8FC"/>
          </a:solidFill>
          <a:ln>
            <a:solidFill>
              <a:srgbClr val="2D7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7909560" y="5605272"/>
            <a:ext cx="2560320" cy="502920"/>
          </a:xfrm>
          <a:prstGeom prst="rect">
            <a:avLst/>
          </a:prstGeom>
          <a:noFill/>
          <a:ln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2F7FC"/>
                </a:solidFill>
              </a:defRPr>
            </a:pPr>
            <a:r>
              <a:rPr>
                <a:solidFill>
                  <a:srgbClr val="18304E"/>
                </a:solidFill>
                <a:latin typeface="Aptos"/>
              </a:rPr>
              <a:t>ALARM</a:t>
            </a:r>
          </a:p>
        </p:txBody>
      </p:sp>
      <p:sp>
        <p:nvSpPr>
          <p:cNvPr id="49" name="Rectangle 48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2D7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14400" y="0"/>
            <a:ext cx="731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828800" y="0"/>
            <a:ext cx="731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743200" y="0"/>
            <a:ext cx="731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57600" y="0"/>
            <a:ext cx="731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0" y="0"/>
            <a:ext cx="731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0" y="0"/>
            <a:ext cx="731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400800" y="0"/>
            <a:ext cx="731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315200" y="0"/>
            <a:ext cx="731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8229600" y="0"/>
            <a:ext cx="731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9144000" y="0"/>
            <a:ext cx="731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0058400" y="0"/>
            <a:ext cx="731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0972800" y="0"/>
            <a:ext cx="731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1887200" y="0"/>
            <a:ext cx="731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0" y="0"/>
            <a:ext cx="12191695" cy="731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0" y="914400"/>
            <a:ext cx="12191695" cy="731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0" y="1828800"/>
            <a:ext cx="12191695" cy="731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0" y="2743200"/>
            <a:ext cx="12191695" cy="731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0" y="3657600"/>
            <a:ext cx="12191695" cy="731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0" y="4572000"/>
            <a:ext cx="12191695" cy="731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0" y="5486400"/>
            <a:ext cx="12191695" cy="731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0" y="6400800"/>
            <a:ext cx="12191695" cy="731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D7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0080" y="411480"/>
            <a:ext cx="10789920" cy="640080"/>
          </a:xfrm>
          <a:prstGeom prst="rect">
            <a:avLst/>
          </a:prstGeom>
          <a:noFill/>
          <a:ln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F2F7FC"/>
                </a:solidFill>
                <a:latin typeface="Aptos Display"/>
              </a:defRPr>
            </a:pPr>
            <a:r>
              <a:rPr>
                <a:solidFill>
                  <a:srgbClr val="18304E"/>
                </a:solidFill>
                <a:latin typeface="Aptos"/>
              </a:rPr>
              <a:t>06 • BOOLEAN EXPRESSION</a:t>
            </a:r>
          </a:p>
        </p:txBody>
      </p:sp>
      <p:sp>
        <p:nvSpPr>
          <p:cNvPr id="26" name="Oval 25"/>
          <p:cNvSpPr/>
          <p:nvPr/>
        </p:nvSpPr>
        <p:spPr>
          <a:xfrm>
            <a:off x="685800" y="1600200"/>
            <a:ext cx="457200" cy="457200"/>
          </a:xfrm>
          <a:prstGeom prst="ellipse">
            <a:avLst/>
          </a:prstGeom>
          <a:solidFill>
            <a:srgbClr val="2D7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85800" y="1673352"/>
            <a:ext cx="457200" cy="274320"/>
          </a:xfrm>
          <a:prstGeom prst="rect">
            <a:avLst/>
          </a:prstGeom>
          <a:noFill/>
          <a:ln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070D18"/>
                </a:solidFill>
              </a:defRPr>
            </a:pPr>
            <a:r>
              <a:rPr>
                <a:solidFill>
                  <a:srgbClr val="18304E"/>
                </a:solidFill>
                <a:latin typeface="Aptos"/>
              </a:rPr>
              <a:t>1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325880" y="1572768"/>
            <a:ext cx="9784080" cy="868680"/>
          </a:xfrm>
          <a:prstGeom prst="roundRect">
            <a:avLst/>
          </a:prstGeom>
          <a:solidFill>
            <a:srgbClr val="F4F8FC"/>
          </a:solidFill>
          <a:ln>
            <a:solidFill>
              <a:srgbClr val="1C33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600200" y="1673352"/>
            <a:ext cx="9052560" cy="640080"/>
          </a:xfrm>
          <a:prstGeom prst="rect">
            <a:avLst/>
          </a:prstGeom>
          <a:noFill/>
          <a:ln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2F7FC"/>
                </a:solidFill>
                <a:latin typeface="Aptos"/>
              </a:defRPr>
            </a:pPr>
            <a:r>
              <a:rPr>
                <a:solidFill>
                  <a:srgbClr val="18304E"/>
                </a:solidFill>
                <a:latin typeface="Aptos"/>
              </a:rPr>
              <a:t>Define variables</a:t>
            </a:r>
          </a:p>
          <a:p>
            <a:pPr>
              <a:defRPr sz="1100">
                <a:solidFill>
                  <a:srgbClr val="A0B2C6"/>
                </a:solidFill>
                <a:latin typeface="Aptos"/>
              </a:defRPr>
            </a:pPr>
            <a:r>
              <a:rPr>
                <a:solidFill>
                  <a:srgbClr val="18304E"/>
                </a:solidFill>
                <a:latin typeface="Aptos"/>
              </a:rPr>
              <a:t>A = security armed, D = door open, M = motion detected.</a:t>
            </a:r>
          </a:p>
        </p:txBody>
      </p:sp>
      <p:sp>
        <p:nvSpPr>
          <p:cNvPr id="30" name="Oval 29"/>
          <p:cNvSpPr/>
          <p:nvPr/>
        </p:nvSpPr>
        <p:spPr>
          <a:xfrm>
            <a:off x="685800" y="3017520"/>
            <a:ext cx="457200" cy="457200"/>
          </a:xfrm>
          <a:prstGeom prst="ellipse">
            <a:avLst/>
          </a:prstGeom>
          <a:solidFill>
            <a:srgbClr val="2D7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85800" y="3090672"/>
            <a:ext cx="457200" cy="274320"/>
          </a:xfrm>
          <a:prstGeom prst="rect">
            <a:avLst/>
          </a:prstGeom>
          <a:noFill/>
          <a:ln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070D18"/>
                </a:solidFill>
              </a:defRPr>
            </a:pPr>
            <a:r>
              <a:rPr>
                <a:solidFill>
                  <a:srgbClr val="18304E"/>
                </a:solidFill>
                <a:latin typeface="Aptos"/>
              </a:rPr>
              <a:t>2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325880" y="2990088"/>
            <a:ext cx="9784080" cy="868680"/>
          </a:xfrm>
          <a:prstGeom prst="roundRect">
            <a:avLst/>
          </a:prstGeom>
          <a:solidFill>
            <a:srgbClr val="F4F8FC"/>
          </a:solidFill>
          <a:ln>
            <a:solidFill>
              <a:srgbClr val="1C33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600200" y="3090672"/>
            <a:ext cx="9052560" cy="640080"/>
          </a:xfrm>
          <a:prstGeom prst="rect">
            <a:avLst/>
          </a:prstGeom>
          <a:noFill/>
          <a:ln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2F7FC"/>
                </a:solidFill>
                <a:latin typeface="Aptos"/>
              </a:defRPr>
            </a:pPr>
            <a:r>
              <a:rPr>
                <a:solidFill>
                  <a:srgbClr val="18304E"/>
                </a:solidFill>
                <a:latin typeface="Aptos"/>
              </a:rPr>
              <a:t>Build the rule</a:t>
            </a:r>
          </a:p>
          <a:p>
            <a:pPr>
              <a:defRPr sz="1100">
                <a:solidFill>
                  <a:srgbClr val="A0B2C6"/>
                </a:solidFill>
                <a:latin typeface="Aptos"/>
              </a:defRPr>
            </a:pPr>
            <a:r>
              <a:rPr>
                <a:solidFill>
                  <a:srgbClr val="18304E"/>
                </a:solidFill>
                <a:latin typeface="Aptos"/>
              </a:rPr>
              <a:t>Alarm = A · (D + M).</a:t>
            </a:r>
          </a:p>
        </p:txBody>
      </p:sp>
      <p:sp>
        <p:nvSpPr>
          <p:cNvPr id="34" name="Oval 33"/>
          <p:cNvSpPr/>
          <p:nvPr/>
        </p:nvSpPr>
        <p:spPr>
          <a:xfrm>
            <a:off x="685800" y="4434840"/>
            <a:ext cx="457200" cy="457200"/>
          </a:xfrm>
          <a:prstGeom prst="ellipse">
            <a:avLst/>
          </a:prstGeom>
          <a:solidFill>
            <a:srgbClr val="2D7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85800" y="4507992"/>
            <a:ext cx="457200" cy="274320"/>
          </a:xfrm>
          <a:prstGeom prst="rect">
            <a:avLst/>
          </a:prstGeom>
          <a:noFill/>
          <a:ln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070D18"/>
                </a:solidFill>
              </a:defRPr>
            </a:pPr>
            <a:r>
              <a:rPr>
                <a:solidFill>
                  <a:srgbClr val="18304E"/>
                </a:solidFill>
                <a:latin typeface="Aptos"/>
              </a:rPr>
              <a:t>3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325880" y="4407407"/>
            <a:ext cx="9784080" cy="868680"/>
          </a:xfrm>
          <a:prstGeom prst="roundRect">
            <a:avLst/>
          </a:prstGeom>
          <a:solidFill>
            <a:srgbClr val="F4F8FC"/>
          </a:solidFill>
          <a:ln>
            <a:solidFill>
              <a:srgbClr val="1C33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600200" y="4507992"/>
            <a:ext cx="9052560" cy="640080"/>
          </a:xfrm>
          <a:prstGeom prst="rect">
            <a:avLst/>
          </a:prstGeom>
          <a:noFill/>
          <a:ln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2F7FC"/>
                </a:solidFill>
                <a:latin typeface="Aptos"/>
              </a:defRPr>
            </a:pPr>
            <a:r>
              <a:rPr>
                <a:solidFill>
                  <a:srgbClr val="18304E"/>
                </a:solidFill>
                <a:latin typeface="Aptos"/>
              </a:rPr>
              <a:t>Read it naturally</a:t>
            </a:r>
          </a:p>
          <a:p>
            <a:pPr>
              <a:defRPr sz="1100">
                <a:solidFill>
                  <a:srgbClr val="A0B2C6"/>
                </a:solidFill>
                <a:latin typeface="Aptos"/>
              </a:defRPr>
            </a:pPr>
            <a:r>
              <a:rPr>
                <a:solidFill>
                  <a:srgbClr val="18304E"/>
                </a:solidFill>
                <a:latin typeface="Aptos"/>
              </a:rPr>
              <a:t>The system alarms when it is armed AND either the door OR motion indicates a threat.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  <a:ln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26D3FF"/>
                </a:solidFill>
              </a:defRPr>
            </a:pPr>
            <a:r>
              <a:rPr>
                <a:solidFill>
                  <a:srgbClr val="18304E"/>
                </a:solidFill>
                <a:latin typeface="Aptos"/>
              </a:rPr>
              <a:t>07</a:t>
            </a:r>
          </a:p>
        </p:txBody>
      </p:sp>
      <p:sp>
        <p:nvSpPr>
          <p:cNvPr id="39" name="Hexagon 38"/>
          <p:cNvSpPr/>
          <p:nvPr/>
        </p:nvSpPr>
        <p:spPr>
          <a:xfrm>
            <a:off x="11109960" y="384048"/>
            <a:ext cx="352044" cy="402336"/>
          </a:xfrm>
          <a:prstGeom prst="hexagon">
            <a:avLst/>
          </a:prstGeom>
          <a:solidFill>
            <a:srgbClr val="2D7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11220602" y="484632"/>
            <a:ext cx="130759" cy="130759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1378915" y="5757977"/>
            <a:ext cx="8503920" cy="594360"/>
          </a:xfrm>
          <a:prstGeom prst="rect">
            <a:avLst/>
          </a:prstGeom>
          <a:noFill/>
          <a:ln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36EB9D"/>
                </a:solidFill>
              </a:defRPr>
            </a:pPr>
            <a:r>
              <a:rPr>
                <a:solidFill>
                  <a:srgbClr val="18304E"/>
                </a:solidFill>
                <a:latin typeface="Aptos"/>
              </a:rPr>
              <a:t>ALARM = A · (D + M)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2D7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14400" y="0"/>
            <a:ext cx="731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828800" y="0"/>
            <a:ext cx="731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743200" y="0"/>
            <a:ext cx="731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57600" y="0"/>
            <a:ext cx="731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0" y="0"/>
            <a:ext cx="731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0" y="0"/>
            <a:ext cx="731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400800" y="0"/>
            <a:ext cx="731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315200" y="0"/>
            <a:ext cx="731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8229600" y="0"/>
            <a:ext cx="731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9144000" y="0"/>
            <a:ext cx="731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0058400" y="0"/>
            <a:ext cx="731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0972800" y="0"/>
            <a:ext cx="731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1887200" y="0"/>
            <a:ext cx="731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0" y="0"/>
            <a:ext cx="12191695" cy="731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0" y="914400"/>
            <a:ext cx="12191695" cy="731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0" y="1828800"/>
            <a:ext cx="12191695" cy="731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0" y="2743200"/>
            <a:ext cx="12191695" cy="731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0" y="3657600"/>
            <a:ext cx="12191695" cy="731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0" y="4572000"/>
            <a:ext cx="12191695" cy="731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0" y="5486400"/>
            <a:ext cx="12191695" cy="731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0" y="6400800"/>
            <a:ext cx="12191695" cy="731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D7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0080" y="411480"/>
            <a:ext cx="10789920" cy="640080"/>
          </a:xfrm>
          <a:prstGeom prst="rect">
            <a:avLst/>
          </a:prstGeom>
          <a:noFill/>
          <a:ln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F2F7FC"/>
                </a:solidFill>
                <a:latin typeface="Aptos Display"/>
              </a:defRPr>
            </a:pPr>
            <a:r>
              <a:rPr>
                <a:solidFill>
                  <a:srgbClr val="18304E"/>
                </a:solidFill>
                <a:latin typeface="Aptos"/>
              </a:rPr>
              <a:t>07 • WHY LOGIC GATES?</a:t>
            </a:r>
          </a:p>
        </p:txBody>
      </p:sp>
      <p:sp>
        <p:nvSpPr>
          <p:cNvPr id="26" name="Oval 25"/>
          <p:cNvSpPr/>
          <p:nvPr/>
        </p:nvSpPr>
        <p:spPr>
          <a:xfrm>
            <a:off x="685800" y="1600200"/>
            <a:ext cx="457200" cy="457200"/>
          </a:xfrm>
          <a:prstGeom prst="ellipse">
            <a:avLst/>
          </a:prstGeom>
          <a:solidFill>
            <a:srgbClr val="2D7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85800" y="1673352"/>
            <a:ext cx="457200" cy="274320"/>
          </a:xfrm>
          <a:prstGeom prst="rect">
            <a:avLst/>
          </a:prstGeom>
          <a:noFill/>
          <a:ln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070D18"/>
                </a:solidFill>
              </a:defRPr>
            </a:pPr>
            <a:r>
              <a:rPr>
                <a:solidFill>
                  <a:srgbClr val="18304E"/>
                </a:solidFill>
                <a:latin typeface="Aptos"/>
              </a:rPr>
              <a:t>1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325880" y="1572768"/>
            <a:ext cx="9784080" cy="868680"/>
          </a:xfrm>
          <a:prstGeom prst="roundRect">
            <a:avLst/>
          </a:prstGeom>
          <a:solidFill>
            <a:srgbClr val="F4F8FC"/>
          </a:solidFill>
          <a:ln>
            <a:solidFill>
              <a:srgbClr val="1C33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600200" y="1673352"/>
            <a:ext cx="9052560" cy="640080"/>
          </a:xfrm>
          <a:prstGeom prst="rect">
            <a:avLst/>
          </a:prstGeom>
          <a:noFill/>
          <a:ln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2F7FC"/>
                </a:solidFill>
                <a:latin typeface="Aptos"/>
              </a:defRPr>
            </a:pPr>
            <a:r>
              <a:rPr>
                <a:solidFill>
                  <a:srgbClr val="18304E"/>
                </a:solidFill>
                <a:latin typeface="Aptos"/>
              </a:rPr>
              <a:t>AND gate</a:t>
            </a:r>
          </a:p>
          <a:p>
            <a:pPr>
              <a:defRPr sz="1100">
                <a:solidFill>
                  <a:srgbClr val="A0B2C6"/>
                </a:solidFill>
                <a:latin typeface="Aptos"/>
              </a:defRPr>
            </a:pPr>
            <a:r>
              <a:rPr>
                <a:solidFill>
                  <a:srgbClr val="18304E"/>
                </a:solidFill>
                <a:latin typeface="Aptos"/>
              </a:rPr>
              <a:t>Ensures two required conditions are true together, such as Armed AND Threat.</a:t>
            </a:r>
          </a:p>
        </p:txBody>
      </p:sp>
      <p:sp>
        <p:nvSpPr>
          <p:cNvPr id="30" name="Oval 29"/>
          <p:cNvSpPr/>
          <p:nvPr/>
        </p:nvSpPr>
        <p:spPr>
          <a:xfrm>
            <a:off x="685800" y="3017520"/>
            <a:ext cx="457200" cy="457200"/>
          </a:xfrm>
          <a:prstGeom prst="ellipse">
            <a:avLst/>
          </a:prstGeom>
          <a:solidFill>
            <a:srgbClr val="2D7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85800" y="3090672"/>
            <a:ext cx="457200" cy="274320"/>
          </a:xfrm>
          <a:prstGeom prst="rect">
            <a:avLst/>
          </a:prstGeom>
          <a:noFill/>
          <a:ln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070D18"/>
                </a:solidFill>
              </a:defRPr>
            </a:pPr>
            <a:r>
              <a:rPr>
                <a:solidFill>
                  <a:srgbClr val="18304E"/>
                </a:solidFill>
                <a:latin typeface="Aptos"/>
              </a:rPr>
              <a:t>2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325880" y="2990088"/>
            <a:ext cx="9784080" cy="868680"/>
          </a:xfrm>
          <a:prstGeom prst="roundRect">
            <a:avLst/>
          </a:prstGeom>
          <a:solidFill>
            <a:srgbClr val="F4F8FC"/>
          </a:solidFill>
          <a:ln>
            <a:solidFill>
              <a:srgbClr val="1C33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600200" y="3090672"/>
            <a:ext cx="9052560" cy="640080"/>
          </a:xfrm>
          <a:prstGeom prst="rect">
            <a:avLst/>
          </a:prstGeom>
          <a:noFill/>
          <a:ln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2F7FC"/>
                </a:solidFill>
                <a:latin typeface="Aptos"/>
              </a:defRPr>
            </a:pPr>
            <a:r>
              <a:rPr>
                <a:solidFill>
                  <a:srgbClr val="18304E"/>
                </a:solidFill>
                <a:latin typeface="Aptos"/>
              </a:rPr>
              <a:t>OR gate</a:t>
            </a:r>
          </a:p>
          <a:p>
            <a:pPr>
              <a:defRPr sz="1100">
                <a:solidFill>
                  <a:srgbClr val="A0B2C6"/>
                </a:solidFill>
                <a:latin typeface="Aptos"/>
              </a:defRPr>
            </a:pPr>
            <a:r>
              <a:rPr>
                <a:solidFill>
                  <a:srgbClr val="18304E"/>
                </a:solidFill>
                <a:latin typeface="Aptos"/>
              </a:rPr>
              <a:t>Allows any one of several independent threats to trigger the next stage.</a:t>
            </a:r>
          </a:p>
        </p:txBody>
      </p:sp>
      <p:sp>
        <p:nvSpPr>
          <p:cNvPr id="34" name="Oval 33"/>
          <p:cNvSpPr/>
          <p:nvPr/>
        </p:nvSpPr>
        <p:spPr>
          <a:xfrm>
            <a:off x="685800" y="4434840"/>
            <a:ext cx="457200" cy="457200"/>
          </a:xfrm>
          <a:prstGeom prst="ellipse">
            <a:avLst/>
          </a:prstGeom>
          <a:solidFill>
            <a:srgbClr val="2D7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85800" y="4507992"/>
            <a:ext cx="457200" cy="274320"/>
          </a:xfrm>
          <a:prstGeom prst="rect">
            <a:avLst/>
          </a:prstGeom>
          <a:noFill/>
          <a:ln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070D18"/>
                </a:solidFill>
              </a:defRPr>
            </a:pPr>
            <a:r>
              <a:rPr>
                <a:solidFill>
                  <a:srgbClr val="18304E"/>
                </a:solidFill>
                <a:latin typeface="Aptos"/>
              </a:rPr>
              <a:t>3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325880" y="4407407"/>
            <a:ext cx="9784080" cy="868680"/>
          </a:xfrm>
          <a:prstGeom prst="roundRect">
            <a:avLst/>
          </a:prstGeom>
          <a:solidFill>
            <a:srgbClr val="F4F8FC"/>
          </a:solidFill>
          <a:ln>
            <a:solidFill>
              <a:srgbClr val="1C33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600200" y="4507992"/>
            <a:ext cx="9052560" cy="640080"/>
          </a:xfrm>
          <a:prstGeom prst="rect">
            <a:avLst/>
          </a:prstGeom>
          <a:noFill/>
          <a:ln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2F7FC"/>
                </a:solidFill>
                <a:latin typeface="Aptos"/>
              </a:defRPr>
            </a:pPr>
            <a:r>
              <a:rPr>
                <a:solidFill>
                  <a:srgbClr val="18304E"/>
                </a:solidFill>
                <a:latin typeface="Aptos"/>
              </a:rPr>
              <a:t>NOT gate</a:t>
            </a:r>
          </a:p>
          <a:p>
            <a:pPr>
              <a:defRPr sz="1100">
                <a:solidFill>
                  <a:srgbClr val="A0B2C6"/>
                </a:solidFill>
                <a:latin typeface="Aptos"/>
              </a:defRPr>
            </a:pPr>
            <a:r>
              <a:rPr>
                <a:solidFill>
                  <a:srgbClr val="18304E"/>
                </a:solidFill>
                <a:latin typeface="Aptos"/>
              </a:rPr>
              <a:t>Reverses a binary state when the circuit needs the opposite condition.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  <a:ln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26D3FF"/>
                </a:solidFill>
              </a:defRPr>
            </a:pPr>
            <a:r>
              <a:rPr>
                <a:solidFill>
                  <a:srgbClr val="18304E"/>
                </a:solidFill>
                <a:latin typeface="Aptos"/>
              </a:rPr>
              <a:t>08</a:t>
            </a:r>
          </a:p>
        </p:txBody>
      </p:sp>
      <p:sp>
        <p:nvSpPr>
          <p:cNvPr id="39" name="Hexagon 38"/>
          <p:cNvSpPr/>
          <p:nvPr/>
        </p:nvSpPr>
        <p:spPr>
          <a:xfrm>
            <a:off x="11109960" y="384048"/>
            <a:ext cx="352044" cy="402336"/>
          </a:xfrm>
          <a:prstGeom prst="hexagon">
            <a:avLst/>
          </a:prstGeom>
          <a:solidFill>
            <a:srgbClr val="2D7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11220602" y="484632"/>
            <a:ext cx="130759" cy="130759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ounded Rectangle 40"/>
          <p:cNvSpPr/>
          <p:nvPr/>
        </p:nvSpPr>
        <p:spPr>
          <a:xfrm>
            <a:off x="4785361" y="5463540"/>
            <a:ext cx="2011680" cy="1143000"/>
          </a:xfrm>
          <a:prstGeom prst="roundRect">
            <a:avLst/>
          </a:prstGeom>
          <a:solidFill>
            <a:srgbClr val="F4F8FC"/>
          </a:solidFill>
          <a:ln>
            <a:solidFill>
              <a:srgbClr val="2D7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4712818" y="5704028"/>
            <a:ext cx="2011680" cy="365760"/>
          </a:xfrm>
          <a:prstGeom prst="rect">
            <a:avLst/>
          </a:prstGeom>
          <a:noFill/>
          <a:ln/>
        </p:spPr>
        <p:txBody>
          <a:bodyPr wrap="none">
            <a:spAutoFit/>
          </a:bodyPr>
          <a:lstStyle/>
          <a:p>
            <a:pPr algn="ctr">
              <a:defRPr sz="2100" b="1">
                <a:solidFill>
                  <a:srgbClr val="26D3FF"/>
                </a:solidFill>
              </a:defRPr>
            </a:pPr>
            <a:r>
              <a:rPr dirty="0">
                <a:solidFill>
                  <a:srgbClr val="18304E"/>
                </a:solidFill>
                <a:latin typeface="Aptos"/>
              </a:rPr>
              <a:t>AND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873513" y="6240780"/>
            <a:ext cx="1737360" cy="320040"/>
          </a:xfrm>
          <a:prstGeom prst="rect">
            <a:avLst/>
          </a:prstGeom>
          <a:noFill/>
          <a:ln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A0B2C6"/>
                </a:solidFill>
              </a:defRPr>
            </a:pPr>
            <a:r>
              <a:rPr>
                <a:solidFill>
                  <a:srgbClr val="18304E"/>
                </a:solidFill>
                <a:latin typeface="Aptos"/>
              </a:rPr>
              <a:t>Required together</a:t>
            </a:r>
          </a:p>
        </p:txBody>
      </p:sp>
      <p:sp>
        <p:nvSpPr>
          <p:cNvPr id="44" name="Rectangle 43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2D7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14400" y="0"/>
            <a:ext cx="731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828800" y="0"/>
            <a:ext cx="731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743200" y="0"/>
            <a:ext cx="731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57600" y="0"/>
            <a:ext cx="731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0" y="0"/>
            <a:ext cx="731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0" y="0"/>
            <a:ext cx="731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400800" y="0"/>
            <a:ext cx="731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315200" y="0"/>
            <a:ext cx="731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8229600" y="0"/>
            <a:ext cx="731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9144000" y="0"/>
            <a:ext cx="731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0058400" y="0"/>
            <a:ext cx="731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0972800" y="0"/>
            <a:ext cx="731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1887200" y="0"/>
            <a:ext cx="731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0" y="0"/>
            <a:ext cx="12191695" cy="731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0" y="914400"/>
            <a:ext cx="12191695" cy="731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0" y="1828800"/>
            <a:ext cx="12191695" cy="731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0" y="2743200"/>
            <a:ext cx="12191695" cy="731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0" y="3657600"/>
            <a:ext cx="12191695" cy="731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0" y="4572000"/>
            <a:ext cx="12191695" cy="731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0" y="5486400"/>
            <a:ext cx="12191695" cy="731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0" y="6400800"/>
            <a:ext cx="12191695" cy="731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D7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0080" y="411480"/>
            <a:ext cx="10789920" cy="640080"/>
          </a:xfrm>
          <a:prstGeom prst="rect">
            <a:avLst/>
          </a:prstGeom>
          <a:noFill/>
          <a:ln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F2F7FC"/>
                </a:solidFill>
                <a:latin typeface="Aptos Display"/>
              </a:defRPr>
            </a:pPr>
            <a:r>
              <a:rPr>
                <a:solidFill>
                  <a:srgbClr val="18304E"/>
                </a:solidFill>
                <a:latin typeface="Aptos"/>
              </a:rPr>
              <a:t>11 • TRUTH TABLE</a:t>
            </a:r>
          </a:p>
        </p:txBody>
      </p:sp>
      <p:sp>
        <p:nvSpPr>
          <p:cNvPr id="26" name="Oval 25"/>
          <p:cNvSpPr/>
          <p:nvPr/>
        </p:nvSpPr>
        <p:spPr>
          <a:xfrm>
            <a:off x="685800" y="1600200"/>
            <a:ext cx="457200" cy="457200"/>
          </a:xfrm>
          <a:prstGeom prst="ellipse">
            <a:avLst/>
          </a:prstGeom>
          <a:solidFill>
            <a:srgbClr val="2D7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85800" y="1673352"/>
            <a:ext cx="457200" cy="274320"/>
          </a:xfrm>
          <a:prstGeom prst="rect">
            <a:avLst/>
          </a:prstGeom>
          <a:noFill/>
          <a:ln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070D18"/>
                </a:solidFill>
              </a:defRPr>
            </a:pPr>
            <a:r>
              <a:rPr>
                <a:solidFill>
                  <a:srgbClr val="18304E"/>
                </a:solidFill>
                <a:latin typeface="Aptos"/>
              </a:rPr>
              <a:t>1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325880" y="1572768"/>
            <a:ext cx="9784080" cy="868680"/>
          </a:xfrm>
          <a:prstGeom prst="roundRect">
            <a:avLst/>
          </a:prstGeom>
          <a:solidFill>
            <a:srgbClr val="F4F8FC"/>
          </a:solidFill>
          <a:ln>
            <a:solidFill>
              <a:srgbClr val="1C33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600200" y="1673352"/>
            <a:ext cx="9052560" cy="640080"/>
          </a:xfrm>
          <a:prstGeom prst="rect">
            <a:avLst/>
          </a:prstGeom>
          <a:noFill/>
          <a:ln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2F7FC"/>
                </a:solidFill>
                <a:latin typeface="Aptos"/>
              </a:defRPr>
            </a:pPr>
            <a:r>
              <a:rPr>
                <a:solidFill>
                  <a:srgbClr val="18304E"/>
                </a:solidFill>
                <a:latin typeface="Aptos"/>
              </a:rPr>
              <a:t>Every combination matters</a:t>
            </a:r>
          </a:p>
          <a:p>
            <a:pPr>
              <a:defRPr sz="1100">
                <a:solidFill>
                  <a:srgbClr val="A0B2C6"/>
                </a:solidFill>
                <a:latin typeface="Aptos"/>
              </a:defRPr>
            </a:pPr>
            <a:r>
              <a:rPr>
                <a:solidFill>
                  <a:srgbClr val="18304E"/>
                </a:solidFill>
                <a:latin typeface="Aptos"/>
              </a:rPr>
              <a:t>With three binary variables, there are 2³ = 8 possible input combinations.</a:t>
            </a:r>
          </a:p>
        </p:txBody>
      </p:sp>
      <p:sp>
        <p:nvSpPr>
          <p:cNvPr id="30" name="Oval 29"/>
          <p:cNvSpPr/>
          <p:nvPr/>
        </p:nvSpPr>
        <p:spPr>
          <a:xfrm>
            <a:off x="685800" y="3017520"/>
            <a:ext cx="457200" cy="457200"/>
          </a:xfrm>
          <a:prstGeom prst="ellipse">
            <a:avLst/>
          </a:prstGeom>
          <a:solidFill>
            <a:srgbClr val="2D7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85800" y="3090672"/>
            <a:ext cx="457200" cy="274320"/>
          </a:xfrm>
          <a:prstGeom prst="rect">
            <a:avLst/>
          </a:prstGeom>
          <a:noFill/>
          <a:ln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070D18"/>
                </a:solidFill>
              </a:defRPr>
            </a:pPr>
            <a:r>
              <a:rPr>
                <a:solidFill>
                  <a:srgbClr val="18304E"/>
                </a:solidFill>
                <a:latin typeface="Aptos"/>
              </a:rPr>
              <a:t>2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325880" y="2990088"/>
            <a:ext cx="9784080" cy="868680"/>
          </a:xfrm>
          <a:prstGeom prst="roundRect">
            <a:avLst/>
          </a:prstGeom>
          <a:solidFill>
            <a:srgbClr val="F4F8FC"/>
          </a:solidFill>
          <a:ln>
            <a:solidFill>
              <a:srgbClr val="1C33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600200" y="3090672"/>
            <a:ext cx="9052560" cy="640080"/>
          </a:xfrm>
          <a:prstGeom prst="rect">
            <a:avLst/>
          </a:prstGeom>
          <a:noFill/>
          <a:ln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2F7FC"/>
                </a:solidFill>
                <a:latin typeface="Aptos"/>
              </a:defRPr>
            </a:pPr>
            <a:r>
              <a:rPr>
                <a:solidFill>
                  <a:srgbClr val="18304E"/>
                </a:solidFill>
                <a:latin typeface="Aptos"/>
              </a:rPr>
              <a:t>Expected output is predictable</a:t>
            </a:r>
          </a:p>
          <a:p>
            <a:pPr>
              <a:defRPr sz="1100">
                <a:solidFill>
                  <a:srgbClr val="A0B2C6"/>
                </a:solidFill>
                <a:latin typeface="Aptos"/>
              </a:defRPr>
            </a:pPr>
            <a:r>
              <a:rPr>
                <a:solidFill>
                  <a:srgbClr val="18304E"/>
                </a:solidFill>
                <a:latin typeface="Aptos"/>
              </a:rPr>
              <a:t>Each row tells us whether the alarm should be 0 or 1.</a:t>
            </a:r>
          </a:p>
        </p:txBody>
      </p:sp>
      <p:sp>
        <p:nvSpPr>
          <p:cNvPr id="34" name="Oval 33"/>
          <p:cNvSpPr/>
          <p:nvPr/>
        </p:nvSpPr>
        <p:spPr>
          <a:xfrm>
            <a:off x="685800" y="4434840"/>
            <a:ext cx="457200" cy="457200"/>
          </a:xfrm>
          <a:prstGeom prst="ellipse">
            <a:avLst/>
          </a:prstGeom>
          <a:solidFill>
            <a:srgbClr val="2D7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85800" y="4507992"/>
            <a:ext cx="457200" cy="274320"/>
          </a:xfrm>
          <a:prstGeom prst="rect">
            <a:avLst/>
          </a:prstGeom>
          <a:noFill/>
          <a:ln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070D18"/>
                </a:solidFill>
              </a:defRPr>
            </a:pPr>
            <a:r>
              <a:rPr>
                <a:solidFill>
                  <a:srgbClr val="18304E"/>
                </a:solidFill>
                <a:latin typeface="Aptos"/>
              </a:rPr>
              <a:t>3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325880" y="4407407"/>
            <a:ext cx="9784080" cy="868680"/>
          </a:xfrm>
          <a:prstGeom prst="roundRect">
            <a:avLst/>
          </a:prstGeom>
          <a:solidFill>
            <a:srgbClr val="F4F8FC"/>
          </a:solidFill>
          <a:ln>
            <a:solidFill>
              <a:srgbClr val="1C33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600200" y="4507992"/>
            <a:ext cx="9052560" cy="640080"/>
          </a:xfrm>
          <a:prstGeom prst="rect">
            <a:avLst/>
          </a:prstGeom>
          <a:noFill/>
          <a:ln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2F7FC"/>
                </a:solidFill>
                <a:latin typeface="Aptos"/>
              </a:defRPr>
            </a:pPr>
            <a:r>
              <a:rPr>
                <a:solidFill>
                  <a:srgbClr val="18304E"/>
                </a:solidFill>
                <a:latin typeface="Aptos"/>
              </a:rPr>
              <a:t>Verification tool</a:t>
            </a:r>
          </a:p>
          <a:p>
            <a:pPr>
              <a:defRPr sz="1100">
                <a:solidFill>
                  <a:srgbClr val="A0B2C6"/>
                </a:solidFill>
                <a:latin typeface="Aptos"/>
              </a:defRPr>
            </a:pPr>
            <a:r>
              <a:rPr>
                <a:solidFill>
                  <a:srgbClr val="18304E"/>
                </a:solidFill>
                <a:latin typeface="Aptos"/>
              </a:rPr>
              <a:t>The truth table becomes the reference for testing the circuit.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  <a:ln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26D3FF"/>
                </a:solidFill>
              </a:defRPr>
            </a:pPr>
            <a:r>
              <a:rPr>
                <a:solidFill>
                  <a:srgbClr val="18304E"/>
                </a:solidFill>
                <a:latin typeface="Aptos"/>
              </a:rPr>
              <a:t>12</a:t>
            </a:r>
          </a:p>
        </p:txBody>
      </p:sp>
      <p:sp>
        <p:nvSpPr>
          <p:cNvPr id="39" name="Hexagon 38"/>
          <p:cNvSpPr/>
          <p:nvPr/>
        </p:nvSpPr>
        <p:spPr>
          <a:xfrm>
            <a:off x="11109960" y="384048"/>
            <a:ext cx="352044" cy="402336"/>
          </a:xfrm>
          <a:prstGeom prst="hexagon">
            <a:avLst/>
          </a:prstGeom>
          <a:solidFill>
            <a:srgbClr val="36E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11220602" y="484632"/>
            <a:ext cx="130759" cy="130759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ounded Rectangle 40"/>
          <p:cNvSpPr/>
          <p:nvPr/>
        </p:nvSpPr>
        <p:spPr>
          <a:xfrm>
            <a:off x="892638" y="5576647"/>
            <a:ext cx="2834640" cy="1005840"/>
          </a:xfrm>
          <a:prstGeom prst="roundRect">
            <a:avLst/>
          </a:prstGeom>
          <a:solidFill>
            <a:srgbClr val="F4F8FC"/>
          </a:solidFill>
          <a:ln>
            <a:solidFill>
              <a:srgbClr val="2D7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963778" y="5839358"/>
            <a:ext cx="2560320" cy="502920"/>
          </a:xfrm>
          <a:prstGeom prst="rect">
            <a:avLst/>
          </a:prstGeom>
          <a:noFill/>
          <a:ln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2F7FC"/>
                </a:solidFill>
              </a:defRPr>
            </a:pPr>
            <a:r>
              <a:rPr dirty="0">
                <a:solidFill>
                  <a:srgbClr val="18304E"/>
                </a:solidFill>
                <a:latin typeface="Aptos"/>
              </a:rPr>
              <a:t>D + M</a:t>
            </a:r>
          </a:p>
        </p:txBody>
      </p:sp>
      <p:sp>
        <p:nvSpPr>
          <p:cNvPr id="43" name="Right Arrow 42"/>
          <p:cNvSpPr/>
          <p:nvPr/>
        </p:nvSpPr>
        <p:spPr>
          <a:xfrm>
            <a:off x="3885229" y="5828703"/>
            <a:ext cx="438912" cy="384048"/>
          </a:xfrm>
          <a:prstGeom prst="rightArrow">
            <a:avLst/>
          </a:prstGeom>
          <a:solidFill>
            <a:srgbClr val="36E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ounded Rectangle 43"/>
          <p:cNvSpPr/>
          <p:nvPr/>
        </p:nvSpPr>
        <p:spPr>
          <a:xfrm>
            <a:off x="4422117" y="5552237"/>
            <a:ext cx="2834640" cy="1005840"/>
          </a:xfrm>
          <a:prstGeom prst="roundRect">
            <a:avLst/>
          </a:prstGeom>
          <a:solidFill>
            <a:srgbClr val="F4F8FC"/>
          </a:solidFill>
          <a:ln>
            <a:solidFill>
              <a:srgbClr val="2D7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4579315" y="5771692"/>
            <a:ext cx="2560320" cy="502920"/>
          </a:xfrm>
          <a:prstGeom prst="rect">
            <a:avLst/>
          </a:prstGeom>
          <a:noFill/>
          <a:ln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2F7FC"/>
                </a:solidFill>
              </a:defRPr>
            </a:pPr>
            <a:r>
              <a:rPr>
                <a:solidFill>
                  <a:srgbClr val="18304E"/>
                </a:solidFill>
                <a:latin typeface="Aptos"/>
              </a:rPr>
              <a:t>A · THREAT</a:t>
            </a:r>
          </a:p>
        </p:txBody>
      </p:sp>
      <p:sp>
        <p:nvSpPr>
          <p:cNvPr id="46" name="Right Arrow 45"/>
          <p:cNvSpPr/>
          <p:nvPr/>
        </p:nvSpPr>
        <p:spPr>
          <a:xfrm>
            <a:off x="7330823" y="5774475"/>
            <a:ext cx="438912" cy="384048"/>
          </a:xfrm>
          <a:prstGeom prst="rightArrow">
            <a:avLst/>
          </a:prstGeom>
          <a:solidFill>
            <a:srgbClr val="36E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ounded Rectangle 46"/>
          <p:cNvSpPr/>
          <p:nvPr/>
        </p:nvSpPr>
        <p:spPr>
          <a:xfrm>
            <a:off x="7861175" y="5450739"/>
            <a:ext cx="2834640" cy="1005840"/>
          </a:xfrm>
          <a:prstGeom prst="roundRect">
            <a:avLst/>
          </a:prstGeom>
          <a:solidFill>
            <a:srgbClr val="F4F8FC"/>
          </a:solidFill>
          <a:ln>
            <a:solidFill>
              <a:srgbClr val="2D7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8086462" y="5809183"/>
            <a:ext cx="2560320" cy="502920"/>
          </a:xfrm>
          <a:prstGeom prst="rect">
            <a:avLst/>
          </a:prstGeom>
          <a:noFill/>
          <a:ln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2F7FC"/>
                </a:solidFill>
              </a:defRPr>
            </a:pPr>
            <a:r>
              <a:rPr>
                <a:solidFill>
                  <a:srgbClr val="18304E"/>
                </a:solidFill>
                <a:latin typeface="Aptos"/>
              </a:rPr>
              <a:t>ALARM</a:t>
            </a:r>
          </a:p>
        </p:txBody>
      </p:sp>
      <p:sp>
        <p:nvSpPr>
          <p:cNvPr id="49" name="Rectangle 48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2D7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14400" y="0"/>
            <a:ext cx="731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828800" y="0"/>
            <a:ext cx="731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743200" y="0"/>
            <a:ext cx="731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57600" y="0"/>
            <a:ext cx="731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0" y="0"/>
            <a:ext cx="731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0" y="0"/>
            <a:ext cx="731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400800" y="0"/>
            <a:ext cx="731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315200" y="0"/>
            <a:ext cx="731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8229600" y="0"/>
            <a:ext cx="731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9144000" y="0"/>
            <a:ext cx="731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0058400" y="0"/>
            <a:ext cx="731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0972800" y="0"/>
            <a:ext cx="731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1887200" y="0"/>
            <a:ext cx="731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0" y="0"/>
            <a:ext cx="12191695" cy="731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0" y="914400"/>
            <a:ext cx="12191695" cy="731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0" y="1828800"/>
            <a:ext cx="12191695" cy="731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0" y="2743200"/>
            <a:ext cx="12191695" cy="731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0" y="3657600"/>
            <a:ext cx="12191695" cy="731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0" y="4572000"/>
            <a:ext cx="12191695" cy="731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0" y="5486400"/>
            <a:ext cx="12191695" cy="731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0" y="6400800"/>
            <a:ext cx="12191695" cy="731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D7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0080" y="411480"/>
            <a:ext cx="10789920" cy="640080"/>
          </a:xfrm>
          <a:prstGeom prst="rect">
            <a:avLst/>
          </a:prstGeom>
          <a:noFill/>
          <a:ln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F2F7FC"/>
                </a:solidFill>
                <a:latin typeface="Aptos Display"/>
              </a:defRPr>
            </a:pPr>
            <a:r>
              <a:rPr>
                <a:solidFill>
                  <a:srgbClr val="18304E"/>
                </a:solidFill>
                <a:latin typeface="Aptos"/>
              </a:rPr>
              <a:t>12 • CIRCUIT ARCHITECTURE</a:t>
            </a:r>
          </a:p>
        </p:txBody>
      </p:sp>
      <p:sp>
        <p:nvSpPr>
          <p:cNvPr id="26" name="Oval 25"/>
          <p:cNvSpPr/>
          <p:nvPr/>
        </p:nvSpPr>
        <p:spPr>
          <a:xfrm>
            <a:off x="685800" y="1600200"/>
            <a:ext cx="457200" cy="457200"/>
          </a:xfrm>
          <a:prstGeom prst="ellipse">
            <a:avLst/>
          </a:prstGeom>
          <a:solidFill>
            <a:srgbClr val="2D7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85800" y="1673352"/>
            <a:ext cx="457200" cy="274320"/>
          </a:xfrm>
          <a:prstGeom prst="rect">
            <a:avLst/>
          </a:prstGeom>
          <a:noFill/>
          <a:ln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070D18"/>
                </a:solidFill>
              </a:defRPr>
            </a:pPr>
            <a:r>
              <a:rPr>
                <a:solidFill>
                  <a:srgbClr val="18304E"/>
                </a:solidFill>
                <a:latin typeface="Aptos"/>
              </a:rPr>
              <a:t>1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325880" y="1572768"/>
            <a:ext cx="9784080" cy="868680"/>
          </a:xfrm>
          <a:prstGeom prst="roundRect">
            <a:avLst/>
          </a:prstGeom>
          <a:solidFill>
            <a:srgbClr val="F4F8FC"/>
          </a:solidFill>
          <a:ln>
            <a:solidFill>
              <a:srgbClr val="1C33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600200" y="1673352"/>
            <a:ext cx="9052560" cy="640080"/>
          </a:xfrm>
          <a:prstGeom prst="rect">
            <a:avLst/>
          </a:prstGeom>
          <a:noFill/>
          <a:ln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2F7FC"/>
                </a:solidFill>
                <a:latin typeface="Aptos"/>
              </a:defRPr>
            </a:pPr>
            <a:r>
              <a:rPr>
                <a:solidFill>
                  <a:srgbClr val="18304E"/>
                </a:solidFill>
                <a:latin typeface="Aptos"/>
              </a:rPr>
              <a:t>Stage 1</a:t>
            </a:r>
          </a:p>
          <a:p>
            <a:pPr>
              <a:defRPr sz="1100">
                <a:solidFill>
                  <a:srgbClr val="A0B2C6"/>
                </a:solidFill>
                <a:latin typeface="Aptos"/>
              </a:defRPr>
            </a:pPr>
            <a:r>
              <a:rPr>
                <a:solidFill>
                  <a:srgbClr val="18304E"/>
                </a:solidFill>
                <a:latin typeface="Aptos"/>
              </a:rPr>
              <a:t>Combine door and motion signals with an OR gate to create a threat signal.</a:t>
            </a:r>
          </a:p>
        </p:txBody>
      </p:sp>
      <p:sp>
        <p:nvSpPr>
          <p:cNvPr id="30" name="Oval 29"/>
          <p:cNvSpPr/>
          <p:nvPr/>
        </p:nvSpPr>
        <p:spPr>
          <a:xfrm>
            <a:off x="685800" y="3017520"/>
            <a:ext cx="457200" cy="457200"/>
          </a:xfrm>
          <a:prstGeom prst="ellipse">
            <a:avLst/>
          </a:prstGeom>
          <a:solidFill>
            <a:srgbClr val="2D7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85800" y="3090672"/>
            <a:ext cx="457200" cy="274320"/>
          </a:xfrm>
          <a:prstGeom prst="rect">
            <a:avLst/>
          </a:prstGeom>
          <a:noFill/>
          <a:ln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070D18"/>
                </a:solidFill>
              </a:defRPr>
            </a:pPr>
            <a:r>
              <a:rPr>
                <a:solidFill>
                  <a:srgbClr val="18304E"/>
                </a:solidFill>
                <a:latin typeface="Aptos"/>
              </a:rPr>
              <a:t>2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325880" y="2990088"/>
            <a:ext cx="9784080" cy="868680"/>
          </a:xfrm>
          <a:prstGeom prst="roundRect">
            <a:avLst/>
          </a:prstGeom>
          <a:solidFill>
            <a:srgbClr val="F4F8FC"/>
          </a:solidFill>
          <a:ln>
            <a:solidFill>
              <a:srgbClr val="1C33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600200" y="3090672"/>
            <a:ext cx="9052560" cy="640080"/>
          </a:xfrm>
          <a:prstGeom prst="rect">
            <a:avLst/>
          </a:prstGeom>
          <a:noFill/>
          <a:ln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2F7FC"/>
                </a:solidFill>
                <a:latin typeface="Aptos"/>
              </a:defRPr>
            </a:pPr>
            <a:r>
              <a:rPr>
                <a:solidFill>
                  <a:srgbClr val="18304E"/>
                </a:solidFill>
                <a:latin typeface="Aptos"/>
              </a:rPr>
              <a:t>Stage 2</a:t>
            </a:r>
          </a:p>
          <a:p>
            <a:pPr>
              <a:defRPr sz="1100">
                <a:solidFill>
                  <a:srgbClr val="A0B2C6"/>
                </a:solidFill>
                <a:latin typeface="Aptos"/>
              </a:defRPr>
            </a:pPr>
            <a:r>
              <a:rPr>
                <a:solidFill>
                  <a:srgbClr val="18304E"/>
                </a:solidFill>
                <a:latin typeface="Aptos"/>
              </a:rPr>
              <a:t>Combine the threat signal with armed mode using an AND gate.</a:t>
            </a:r>
          </a:p>
        </p:txBody>
      </p:sp>
      <p:sp>
        <p:nvSpPr>
          <p:cNvPr id="34" name="Oval 33"/>
          <p:cNvSpPr/>
          <p:nvPr/>
        </p:nvSpPr>
        <p:spPr>
          <a:xfrm>
            <a:off x="685800" y="4434840"/>
            <a:ext cx="457200" cy="457200"/>
          </a:xfrm>
          <a:prstGeom prst="ellipse">
            <a:avLst/>
          </a:prstGeom>
          <a:solidFill>
            <a:srgbClr val="2D7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85800" y="4507992"/>
            <a:ext cx="457200" cy="274320"/>
          </a:xfrm>
          <a:prstGeom prst="rect">
            <a:avLst/>
          </a:prstGeom>
          <a:noFill/>
          <a:ln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070D18"/>
                </a:solidFill>
              </a:defRPr>
            </a:pPr>
            <a:r>
              <a:rPr>
                <a:solidFill>
                  <a:srgbClr val="18304E"/>
                </a:solidFill>
                <a:latin typeface="Aptos"/>
              </a:rPr>
              <a:t>3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325880" y="4407407"/>
            <a:ext cx="9784080" cy="868680"/>
          </a:xfrm>
          <a:prstGeom prst="roundRect">
            <a:avLst/>
          </a:prstGeom>
          <a:solidFill>
            <a:srgbClr val="F4F8FC"/>
          </a:solidFill>
          <a:ln>
            <a:solidFill>
              <a:srgbClr val="1C33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600200" y="4507992"/>
            <a:ext cx="9052560" cy="640080"/>
          </a:xfrm>
          <a:prstGeom prst="rect">
            <a:avLst/>
          </a:prstGeom>
          <a:noFill/>
          <a:ln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2F7FC"/>
                </a:solidFill>
                <a:latin typeface="Aptos"/>
              </a:defRPr>
            </a:pPr>
            <a:r>
              <a:rPr>
                <a:solidFill>
                  <a:srgbClr val="18304E"/>
                </a:solidFill>
                <a:latin typeface="Aptos"/>
              </a:rPr>
              <a:t>Stage 3</a:t>
            </a:r>
          </a:p>
          <a:p>
            <a:pPr>
              <a:defRPr sz="1100">
                <a:solidFill>
                  <a:srgbClr val="A0B2C6"/>
                </a:solidFill>
                <a:latin typeface="Aptos"/>
              </a:defRPr>
            </a:pPr>
            <a:r>
              <a:rPr>
                <a:solidFill>
                  <a:srgbClr val="18304E"/>
                </a:solidFill>
                <a:latin typeface="Aptos"/>
              </a:rPr>
              <a:t>Send the final alarm output to an LED or buzzer.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  <a:ln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26D3FF"/>
                </a:solidFill>
              </a:defRPr>
            </a:pPr>
            <a:r>
              <a:rPr>
                <a:solidFill>
                  <a:srgbClr val="18304E"/>
                </a:solidFill>
                <a:latin typeface="Aptos"/>
              </a:rPr>
              <a:t>13</a:t>
            </a:r>
          </a:p>
        </p:txBody>
      </p:sp>
      <p:sp>
        <p:nvSpPr>
          <p:cNvPr id="39" name="Hexagon 38"/>
          <p:cNvSpPr/>
          <p:nvPr/>
        </p:nvSpPr>
        <p:spPr>
          <a:xfrm>
            <a:off x="11109960" y="384048"/>
            <a:ext cx="352044" cy="402336"/>
          </a:xfrm>
          <a:prstGeom prst="hexagon">
            <a:avLst/>
          </a:prstGeom>
          <a:solidFill>
            <a:srgbClr val="2D7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11220602" y="484632"/>
            <a:ext cx="130759" cy="130759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2D7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14400" y="0"/>
            <a:ext cx="731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828800" y="0"/>
            <a:ext cx="731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743200" y="0"/>
            <a:ext cx="731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57600" y="0"/>
            <a:ext cx="731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0" y="0"/>
            <a:ext cx="731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0" y="0"/>
            <a:ext cx="731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400800" y="0"/>
            <a:ext cx="731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315200" y="0"/>
            <a:ext cx="731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8229600" y="0"/>
            <a:ext cx="731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9144000" y="0"/>
            <a:ext cx="731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0058400" y="0"/>
            <a:ext cx="731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0972800" y="0"/>
            <a:ext cx="731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1887200" y="0"/>
            <a:ext cx="731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0" y="0"/>
            <a:ext cx="12191695" cy="731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0" y="914400"/>
            <a:ext cx="12191695" cy="731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0" y="1828800"/>
            <a:ext cx="12191695" cy="731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0" y="2743200"/>
            <a:ext cx="12191695" cy="731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0" y="3657600"/>
            <a:ext cx="12191695" cy="731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0" y="4572000"/>
            <a:ext cx="12191695" cy="731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0" y="5486400"/>
            <a:ext cx="12191695" cy="731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0" y="6400800"/>
            <a:ext cx="12191695" cy="731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D7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0080" y="411480"/>
            <a:ext cx="10789920" cy="640080"/>
          </a:xfrm>
          <a:prstGeom prst="rect">
            <a:avLst/>
          </a:prstGeom>
          <a:noFill/>
          <a:ln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F2F7FC"/>
                </a:solidFill>
                <a:latin typeface="Aptos Display"/>
              </a:defRPr>
            </a:pPr>
            <a:r>
              <a:rPr>
                <a:solidFill>
                  <a:srgbClr val="18304E"/>
                </a:solidFill>
                <a:latin typeface="Aptos"/>
              </a:rPr>
              <a:t>14 • TESTING SCENARIOS</a:t>
            </a:r>
          </a:p>
        </p:txBody>
      </p:sp>
      <p:sp>
        <p:nvSpPr>
          <p:cNvPr id="26" name="Oval 25"/>
          <p:cNvSpPr/>
          <p:nvPr/>
        </p:nvSpPr>
        <p:spPr>
          <a:xfrm>
            <a:off x="685800" y="1600200"/>
            <a:ext cx="457200" cy="457200"/>
          </a:xfrm>
          <a:prstGeom prst="ellipse">
            <a:avLst/>
          </a:prstGeom>
          <a:solidFill>
            <a:srgbClr val="2D7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85800" y="1673352"/>
            <a:ext cx="457200" cy="274320"/>
          </a:xfrm>
          <a:prstGeom prst="rect">
            <a:avLst/>
          </a:prstGeom>
          <a:noFill/>
          <a:ln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070D18"/>
                </a:solidFill>
              </a:defRPr>
            </a:pPr>
            <a:r>
              <a:rPr>
                <a:solidFill>
                  <a:srgbClr val="18304E"/>
                </a:solidFill>
                <a:latin typeface="Aptos"/>
              </a:rPr>
              <a:t>1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325880" y="1572768"/>
            <a:ext cx="9784080" cy="868680"/>
          </a:xfrm>
          <a:prstGeom prst="roundRect">
            <a:avLst/>
          </a:prstGeom>
          <a:solidFill>
            <a:srgbClr val="F4F8FC"/>
          </a:solidFill>
          <a:ln>
            <a:solidFill>
              <a:srgbClr val="1C33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600200" y="1673352"/>
            <a:ext cx="9052560" cy="640080"/>
          </a:xfrm>
          <a:prstGeom prst="rect">
            <a:avLst/>
          </a:prstGeom>
          <a:noFill/>
          <a:ln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2F7FC"/>
                </a:solidFill>
                <a:latin typeface="Aptos"/>
              </a:defRPr>
            </a:pPr>
            <a:r>
              <a:rPr>
                <a:solidFill>
                  <a:srgbClr val="18304E"/>
                </a:solidFill>
                <a:latin typeface="Aptos"/>
              </a:rPr>
              <a:t>Safe condition</a:t>
            </a:r>
          </a:p>
          <a:p>
            <a:pPr>
              <a:defRPr sz="1100">
                <a:solidFill>
                  <a:srgbClr val="A0B2C6"/>
                </a:solidFill>
                <a:latin typeface="Aptos"/>
              </a:defRPr>
            </a:pPr>
            <a:r>
              <a:rPr>
                <a:solidFill>
                  <a:srgbClr val="18304E"/>
                </a:solidFill>
                <a:latin typeface="Aptos"/>
              </a:rPr>
              <a:t>System disarmed or no threat → alarm remains OFF.</a:t>
            </a:r>
          </a:p>
        </p:txBody>
      </p:sp>
      <p:sp>
        <p:nvSpPr>
          <p:cNvPr id="30" name="Oval 29"/>
          <p:cNvSpPr/>
          <p:nvPr/>
        </p:nvSpPr>
        <p:spPr>
          <a:xfrm>
            <a:off x="685800" y="3017520"/>
            <a:ext cx="457200" cy="457200"/>
          </a:xfrm>
          <a:prstGeom prst="ellipse">
            <a:avLst/>
          </a:prstGeom>
          <a:solidFill>
            <a:srgbClr val="2D7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85800" y="3090672"/>
            <a:ext cx="457200" cy="274320"/>
          </a:xfrm>
          <a:prstGeom prst="rect">
            <a:avLst/>
          </a:prstGeom>
          <a:noFill/>
          <a:ln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070D18"/>
                </a:solidFill>
              </a:defRPr>
            </a:pPr>
            <a:r>
              <a:rPr>
                <a:solidFill>
                  <a:srgbClr val="18304E"/>
                </a:solidFill>
                <a:latin typeface="Aptos"/>
              </a:rPr>
              <a:t>2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325880" y="2990088"/>
            <a:ext cx="9784080" cy="868680"/>
          </a:xfrm>
          <a:prstGeom prst="roundRect">
            <a:avLst/>
          </a:prstGeom>
          <a:solidFill>
            <a:srgbClr val="F4F8FC"/>
          </a:solidFill>
          <a:ln>
            <a:solidFill>
              <a:srgbClr val="1C33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600200" y="3090672"/>
            <a:ext cx="9052560" cy="640080"/>
          </a:xfrm>
          <a:prstGeom prst="rect">
            <a:avLst/>
          </a:prstGeom>
          <a:noFill/>
          <a:ln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2F7FC"/>
                </a:solidFill>
                <a:latin typeface="Aptos"/>
              </a:defRPr>
            </a:pPr>
            <a:r>
              <a:rPr>
                <a:solidFill>
                  <a:srgbClr val="18304E"/>
                </a:solidFill>
                <a:latin typeface="Aptos"/>
              </a:rPr>
              <a:t>Single intrusion</a:t>
            </a:r>
          </a:p>
          <a:p>
            <a:pPr>
              <a:defRPr sz="1100">
                <a:solidFill>
                  <a:srgbClr val="A0B2C6"/>
                </a:solidFill>
                <a:latin typeface="Aptos"/>
              </a:defRPr>
            </a:pPr>
            <a:r>
              <a:rPr>
                <a:solidFill>
                  <a:srgbClr val="18304E"/>
                </a:solidFill>
                <a:latin typeface="Aptos"/>
              </a:rPr>
              <a:t>Armed + door open OR armed + motion → alarm turns ON.</a:t>
            </a:r>
          </a:p>
        </p:txBody>
      </p:sp>
      <p:sp>
        <p:nvSpPr>
          <p:cNvPr id="34" name="Oval 33"/>
          <p:cNvSpPr/>
          <p:nvPr/>
        </p:nvSpPr>
        <p:spPr>
          <a:xfrm>
            <a:off x="685800" y="4434840"/>
            <a:ext cx="457200" cy="457200"/>
          </a:xfrm>
          <a:prstGeom prst="ellipse">
            <a:avLst/>
          </a:prstGeom>
          <a:solidFill>
            <a:srgbClr val="2D7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85800" y="4507992"/>
            <a:ext cx="457200" cy="274320"/>
          </a:xfrm>
          <a:prstGeom prst="rect">
            <a:avLst/>
          </a:prstGeom>
          <a:noFill/>
          <a:ln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070D18"/>
                </a:solidFill>
              </a:defRPr>
            </a:pPr>
            <a:r>
              <a:rPr>
                <a:solidFill>
                  <a:srgbClr val="18304E"/>
                </a:solidFill>
                <a:latin typeface="Aptos"/>
              </a:rPr>
              <a:t>3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325880" y="4407407"/>
            <a:ext cx="9784080" cy="868680"/>
          </a:xfrm>
          <a:prstGeom prst="roundRect">
            <a:avLst/>
          </a:prstGeom>
          <a:solidFill>
            <a:srgbClr val="F4F8FC"/>
          </a:solidFill>
          <a:ln>
            <a:solidFill>
              <a:srgbClr val="1C33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600200" y="4507992"/>
            <a:ext cx="9052560" cy="640080"/>
          </a:xfrm>
          <a:prstGeom prst="rect">
            <a:avLst/>
          </a:prstGeom>
          <a:noFill/>
          <a:ln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2F7FC"/>
                </a:solidFill>
                <a:latin typeface="Aptos"/>
              </a:defRPr>
            </a:pPr>
            <a:r>
              <a:rPr>
                <a:solidFill>
                  <a:srgbClr val="18304E"/>
                </a:solidFill>
                <a:latin typeface="Aptos"/>
              </a:rPr>
              <a:t>Combined intrusion</a:t>
            </a:r>
          </a:p>
          <a:p>
            <a:pPr>
              <a:defRPr sz="1100">
                <a:solidFill>
                  <a:srgbClr val="A0B2C6"/>
                </a:solidFill>
                <a:latin typeface="Aptos"/>
              </a:defRPr>
            </a:pPr>
            <a:r>
              <a:rPr>
                <a:solidFill>
                  <a:srgbClr val="18304E"/>
                </a:solidFill>
                <a:latin typeface="Aptos"/>
              </a:rPr>
              <a:t>Multiple active sensors still produce one clear alarm decision.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  <a:ln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26D3FF"/>
                </a:solidFill>
              </a:defRPr>
            </a:pPr>
            <a:r>
              <a:rPr>
                <a:solidFill>
                  <a:srgbClr val="18304E"/>
                </a:solidFill>
                <a:latin typeface="Aptos"/>
              </a:rPr>
              <a:t>15</a:t>
            </a:r>
          </a:p>
        </p:txBody>
      </p:sp>
      <p:sp>
        <p:nvSpPr>
          <p:cNvPr id="39" name="Hexagon 38"/>
          <p:cNvSpPr/>
          <p:nvPr/>
        </p:nvSpPr>
        <p:spPr>
          <a:xfrm>
            <a:off x="11109960" y="384048"/>
            <a:ext cx="352044" cy="402336"/>
          </a:xfrm>
          <a:prstGeom prst="hexagon">
            <a:avLst/>
          </a:prstGeom>
          <a:solidFill>
            <a:srgbClr val="36E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11220602" y="484632"/>
            <a:ext cx="130759" cy="130759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2D7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14400" y="0"/>
            <a:ext cx="731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828800" y="0"/>
            <a:ext cx="731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743200" y="0"/>
            <a:ext cx="731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57600" y="0"/>
            <a:ext cx="731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0" y="0"/>
            <a:ext cx="731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0" y="0"/>
            <a:ext cx="731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400800" y="0"/>
            <a:ext cx="731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315200" y="0"/>
            <a:ext cx="731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8229600" y="0"/>
            <a:ext cx="731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9144000" y="0"/>
            <a:ext cx="731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0058400" y="0"/>
            <a:ext cx="731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0972800" y="0"/>
            <a:ext cx="731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1887200" y="0"/>
            <a:ext cx="731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0" y="0"/>
            <a:ext cx="12191695" cy="731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0" y="914400"/>
            <a:ext cx="12191695" cy="731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0" y="1828800"/>
            <a:ext cx="12191695" cy="731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0" y="2743200"/>
            <a:ext cx="12191695" cy="731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0" y="3657600"/>
            <a:ext cx="12191695" cy="731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0" y="4572000"/>
            <a:ext cx="12191695" cy="731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0" y="5486400"/>
            <a:ext cx="12191695" cy="731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0" y="6400800"/>
            <a:ext cx="12191695" cy="731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D7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0080" y="411480"/>
            <a:ext cx="10789920" cy="640080"/>
          </a:xfrm>
          <a:prstGeom prst="rect">
            <a:avLst/>
          </a:prstGeom>
          <a:noFill/>
          <a:ln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F2F7FC"/>
                </a:solidFill>
                <a:latin typeface="Aptos Display"/>
              </a:defRPr>
            </a:pPr>
            <a:r>
              <a:rPr>
                <a:solidFill>
                  <a:srgbClr val="18304E"/>
                </a:solidFill>
                <a:latin typeface="Aptos"/>
              </a:rPr>
              <a:t>19 • CONCLUSION</a:t>
            </a:r>
          </a:p>
        </p:txBody>
      </p:sp>
      <p:sp>
        <p:nvSpPr>
          <p:cNvPr id="26" name="Oval 25"/>
          <p:cNvSpPr/>
          <p:nvPr/>
        </p:nvSpPr>
        <p:spPr>
          <a:xfrm>
            <a:off x="685800" y="1600200"/>
            <a:ext cx="457200" cy="457200"/>
          </a:xfrm>
          <a:prstGeom prst="ellipse">
            <a:avLst/>
          </a:prstGeom>
          <a:solidFill>
            <a:srgbClr val="2D7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85800" y="1673352"/>
            <a:ext cx="457200" cy="274320"/>
          </a:xfrm>
          <a:prstGeom prst="rect">
            <a:avLst/>
          </a:prstGeom>
          <a:noFill/>
          <a:ln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070D18"/>
                </a:solidFill>
              </a:defRPr>
            </a:pPr>
            <a:r>
              <a:rPr>
                <a:solidFill>
                  <a:srgbClr val="18304E"/>
                </a:solidFill>
                <a:latin typeface="Aptos"/>
              </a:rPr>
              <a:t>1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325880" y="1572768"/>
            <a:ext cx="9784080" cy="868680"/>
          </a:xfrm>
          <a:prstGeom prst="roundRect">
            <a:avLst/>
          </a:prstGeom>
          <a:solidFill>
            <a:srgbClr val="F4F8FC"/>
          </a:solidFill>
          <a:ln>
            <a:solidFill>
              <a:srgbClr val="1C33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600200" y="1673352"/>
            <a:ext cx="9052560" cy="640080"/>
          </a:xfrm>
          <a:prstGeom prst="rect">
            <a:avLst/>
          </a:prstGeom>
          <a:noFill/>
          <a:ln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2F7FC"/>
                </a:solidFill>
                <a:latin typeface="Aptos"/>
              </a:defRPr>
            </a:pPr>
            <a:r>
              <a:rPr>
                <a:solidFill>
                  <a:srgbClr val="18304E"/>
                </a:solidFill>
                <a:latin typeface="Aptos"/>
              </a:rPr>
              <a:t>A practical digital system</a:t>
            </a:r>
          </a:p>
          <a:p>
            <a:pPr>
              <a:defRPr sz="1100">
                <a:solidFill>
                  <a:srgbClr val="A0B2C6"/>
                </a:solidFill>
                <a:latin typeface="Aptos"/>
              </a:defRPr>
            </a:pPr>
            <a:r>
              <a:rPr>
                <a:solidFill>
                  <a:srgbClr val="18304E"/>
                </a:solidFill>
                <a:latin typeface="Aptos"/>
              </a:rPr>
              <a:t>The project turns basic logic-gate theory into a useful security application.</a:t>
            </a:r>
          </a:p>
        </p:txBody>
      </p:sp>
      <p:sp>
        <p:nvSpPr>
          <p:cNvPr id="30" name="Oval 29"/>
          <p:cNvSpPr/>
          <p:nvPr/>
        </p:nvSpPr>
        <p:spPr>
          <a:xfrm>
            <a:off x="685800" y="3017520"/>
            <a:ext cx="457200" cy="457200"/>
          </a:xfrm>
          <a:prstGeom prst="ellipse">
            <a:avLst/>
          </a:prstGeom>
          <a:solidFill>
            <a:srgbClr val="2D7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85800" y="3090672"/>
            <a:ext cx="457200" cy="274320"/>
          </a:xfrm>
          <a:prstGeom prst="rect">
            <a:avLst/>
          </a:prstGeom>
          <a:noFill/>
          <a:ln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070D18"/>
                </a:solidFill>
              </a:defRPr>
            </a:pPr>
            <a:r>
              <a:rPr>
                <a:solidFill>
                  <a:srgbClr val="18304E"/>
                </a:solidFill>
                <a:latin typeface="Aptos"/>
              </a:rPr>
              <a:t>2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325880" y="2990088"/>
            <a:ext cx="9784080" cy="868680"/>
          </a:xfrm>
          <a:prstGeom prst="roundRect">
            <a:avLst/>
          </a:prstGeom>
          <a:solidFill>
            <a:srgbClr val="F4F8FC"/>
          </a:solidFill>
          <a:ln>
            <a:solidFill>
              <a:srgbClr val="1C33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600200" y="3090672"/>
            <a:ext cx="9052560" cy="640080"/>
          </a:xfrm>
          <a:prstGeom prst="rect">
            <a:avLst/>
          </a:prstGeom>
          <a:noFill/>
          <a:ln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2F7FC"/>
                </a:solidFill>
                <a:latin typeface="Aptos"/>
              </a:defRPr>
            </a:pPr>
            <a:r>
              <a:rPr>
                <a:solidFill>
                  <a:srgbClr val="18304E"/>
                </a:solidFill>
                <a:latin typeface="Aptos"/>
              </a:rPr>
              <a:t>Clear design method</a:t>
            </a:r>
          </a:p>
          <a:p>
            <a:pPr>
              <a:defRPr sz="1100">
                <a:solidFill>
                  <a:srgbClr val="A0B2C6"/>
                </a:solidFill>
                <a:latin typeface="Aptos"/>
              </a:defRPr>
            </a:pPr>
            <a:r>
              <a:rPr>
                <a:solidFill>
                  <a:srgbClr val="18304E"/>
                </a:solidFill>
                <a:latin typeface="Aptos"/>
              </a:rPr>
              <a:t>Inputs → Boolean expression → gates → simulation → verification.</a:t>
            </a:r>
          </a:p>
        </p:txBody>
      </p:sp>
      <p:sp>
        <p:nvSpPr>
          <p:cNvPr id="34" name="Oval 33"/>
          <p:cNvSpPr/>
          <p:nvPr/>
        </p:nvSpPr>
        <p:spPr>
          <a:xfrm>
            <a:off x="685800" y="4434840"/>
            <a:ext cx="457200" cy="457200"/>
          </a:xfrm>
          <a:prstGeom prst="ellipse">
            <a:avLst/>
          </a:prstGeom>
          <a:solidFill>
            <a:srgbClr val="2D7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85800" y="4507992"/>
            <a:ext cx="457200" cy="274320"/>
          </a:xfrm>
          <a:prstGeom prst="rect">
            <a:avLst/>
          </a:prstGeom>
          <a:noFill/>
          <a:ln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070D18"/>
                </a:solidFill>
              </a:defRPr>
            </a:pPr>
            <a:r>
              <a:rPr>
                <a:solidFill>
                  <a:srgbClr val="18304E"/>
                </a:solidFill>
                <a:latin typeface="Aptos"/>
              </a:rPr>
              <a:t>3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325880" y="4407407"/>
            <a:ext cx="9784080" cy="868680"/>
          </a:xfrm>
          <a:prstGeom prst="roundRect">
            <a:avLst/>
          </a:prstGeom>
          <a:solidFill>
            <a:srgbClr val="F4F8FC"/>
          </a:solidFill>
          <a:ln>
            <a:solidFill>
              <a:srgbClr val="1C33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600200" y="4507992"/>
            <a:ext cx="9052560" cy="640080"/>
          </a:xfrm>
          <a:prstGeom prst="rect">
            <a:avLst/>
          </a:prstGeom>
          <a:noFill/>
          <a:ln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2F7FC"/>
                </a:solidFill>
                <a:latin typeface="Aptos"/>
              </a:defRPr>
            </a:pPr>
            <a:r>
              <a:rPr>
                <a:solidFill>
                  <a:srgbClr val="18304E"/>
                </a:solidFill>
                <a:latin typeface="Aptos"/>
              </a:rPr>
              <a:t>Key takeaway</a:t>
            </a:r>
          </a:p>
          <a:p>
            <a:pPr>
              <a:defRPr sz="1100">
                <a:solidFill>
                  <a:srgbClr val="A0B2C6"/>
                </a:solidFill>
                <a:latin typeface="Aptos"/>
              </a:defRPr>
            </a:pPr>
            <a:r>
              <a:rPr>
                <a:solidFill>
                  <a:srgbClr val="18304E"/>
                </a:solidFill>
                <a:latin typeface="Aptos"/>
              </a:rPr>
              <a:t>Even simple combinational logic can make meaningful real-world decisions.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  <a:ln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26D3FF"/>
                </a:solidFill>
              </a:defRPr>
            </a:pPr>
            <a:r>
              <a:rPr>
                <a:solidFill>
                  <a:srgbClr val="18304E"/>
                </a:solidFill>
                <a:latin typeface="Aptos"/>
              </a:rPr>
              <a:t>20</a:t>
            </a:r>
          </a:p>
        </p:txBody>
      </p:sp>
      <p:sp>
        <p:nvSpPr>
          <p:cNvPr id="39" name="Hexagon 38"/>
          <p:cNvSpPr/>
          <p:nvPr/>
        </p:nvSpPr>
        <p:spPr>
          <a:xfrm>
            <a:off x="11109960" y="384048"/>
            <a:ext cx="352044" cy="402336"/>
          </a:xfrm>
          <a:prstGeom prst="hexagon">
            <a:avLst/>
          </a:prstGeom>
          <a:solidFill>
            <a:srgbClr val="2D7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11220602" y="484632"/>
            <a:ext cx="130759" cy="130759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Oval 40"/>
          <p:cNvSpPr/>
          <p:nvPr/>
        </p:nvSpPr>
        <p:spPr>
          <a:xfrm>
            <a:off x="2339035" y="5623560"/>
            <a:ext cx="1737360" cy="731520"/>
          </a:xfrm>
          <a:prstGeom prst="ellipse">
            <a:avLst/>
          </a:prstGeom>
          <a:solidFill>
            <a:srgbClr val="2D7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2293315" y="5870447"/>
            <a:ext cx="1737360" cy="274320"/>
          </a:xfrm>
          <a:prstGeom prst="rect">
            <a:avLst/>
          </a:prstGeom>
          <a:noFill/>
          <a:ln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070D18"/>
                </a:solidFill>
              </a:defRPr>
            </a:pPr>
            <a:r>
              <a:rPr dirty="0">
                <a:solidFill>
                  <a:srgbClr val="18304E"/>
                </a:solidFill>
                <a:latin typeface="Aptos"/>
              </a:rPr>
              <a:t>DETECT</a:t>
            </a:r>
          </a:p>
        </p:txBody>
      </p:sp>
      <p:sp>
        <p:nvSpPr>
          <p:cNvPr id="43" name="Oval 42"/>
          <p:cNvSpPr/>
          <p:nvPr/>
        </p:nvSpPr>
        <p:spPr>
          <a:xfrm>
            <a:off x="5032858" y="5641847"/>
            <a:ext cx="1737360" cy="731520"/>
          </a:xfrm>
          <a:prstGeom prst="ellipse">
            <a:avLst/>
          </a:prstGeom>
          <a:solidFill>
            <a:srgbClr val="36E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4961654" y="5900662"/>
            <a:ext cx="1737360" cy="274320"/>
          </a:xfrm>
          <a:prstGeom prst="rect">
            <a:avLst/>
          </a:prstGeom>
          <a:noFill/>
          <a:ln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070D18"/>
                </a:solidFill>
              </a:defRPr>
            </a:pPr>
            <a:r>
              <a:rPr dirty="0">
                <a:solidFill>
                  <a:srgbClr val="18304E"/>
                </a:solidFill>
                <a:latin typeface="Aptos"/>
              </a:rPr>
              <a:t>DECIDE</a:t>
            </a:r>
          </a:p>
        </p:txBody>
      </p:sp>
      <p:sp>
        <p:nvSpPr>
          <p:cNvPr id="45" name="Oval 44"/>
          <p:cNvSpPr/>
          <p:nvPr/>
        </p:nvSpPr>
        <p:spPr>
          <a:xfrm>
            <a:off x="7596835" y="5614415"/>
            <a:ext cx="1737360" cy="731520"/>
          </a:xfrm>
          <a:prstGeom prst="ellipse">
            <a:avLst/>
          </a:prstGeom>
          <a:solidFill>
            <a:srgbClr val="FF52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7642555" y="5857727"/>
            <a:ext cx="1737360" cy="274320"/>
          </a:xfrm>
          <a:prstGeom prst="rect">
            <a:avLst/>
          </a:prstGeom>
          <a:noFill/>
          <a:ln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070D18"/>
                </a:solidFill>
              </a:defRPr>
            </a:pPr>
            <a:r>
              <a:rPr>
                <a:solidFill>
                  <a:srgbClr val="18304E"/>
                </a:solidFill>
                <a:latin typeface="Aptos"/>
              </a:rPr>
              <a:t>ALERT</a:t>
            </a:r>
          </a:p>
        </p:txBody>
      </p:sp>
      <p:sp>
        <p:nvSpPr>
          <p:cNvPr id="47" name="Rectangle 46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2D7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7955279" cy="50292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2500" b="1">
                <a:solidFill>
                  <a:srgbClr val="17365D"/>
                </a:solidFill>
                <a:latin typeface="Aptos"/>
              </a:rPr>
              <a:t>LIVE PROTOTYPE  |  SMART HOME SECURITY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7772400" cy="32004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1200" b="0">
                <a:solidFill>
                  <a:srgbClr val="61748B"/>
                </a:solidFill>
                <a:latin typeface="Aptos"/>
              </a:rPr>
              <a:t>Interactive demonstration of the intruder-detection logic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161288"/>
            <a:ext cx="11109960" cy="32004"/>
          </a:xfrm>
          <a:prstGeom prst="rect">
            <a:avLst/>
          </a:prstGeom>
          <a:solidFill>
            <a:srgbClr val="267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30352" y="1417320"/>
            <a:ext cx="6812280" cy="4434840"/>
          </a:xfrm>
          <a:prstGeom prst="roundRect">
            <a:avLst>
              <a:gd name="adj" fmla="val 12000"/>
            </a:avLst>
          </a:prstGeom>
          <a:solidFill>
            <a:srgbClr val="F3F7FC"/>
          </a:solidFill>
          <a:ln w="12700">
            <a:solidFill>
              <a:srgbClr val="D9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04672" y="1572768"/>
            <a:ext cx="6217920" cy="36576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1600" b="1">
                <a:solidFill>
                  <a:srgbClr val="17365D"/>
                </a:solidFill>
                <a:latin typeface="Aptos"/>
              </a:rPr>
              <a:t>CONTROL PANEL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975104"/>
            <a:ext cx="5943600" cy="27432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1100" b="0">
                <a:solidFill>
                  <a:srgbClr val="61748B"/>
                </a:solidFill>
                <a:latin typeface="Aptos"/>
              </a:rPr>
              <a:t>Toggle the inputs to see the alarm output change.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423160"/>
            <a:ext cx="1737360" cy="1051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941832" y="2660904"/>
            <a:ext cx="438912" cy="438912"/>
          </a:xfrm>
          <a:prstGeom prst="ellipse">
            <a:avLst/>
          </a:prstGeom>
          <a:solidFill>
            <a:srgbClr val="EAF2FF"/>
          </a:solidFill>
          <a:ln>
            <a:solidFill>
              <a:srgbClr val="EAF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41832" y="2660904"/>
            <a:ext cx="438912" cy="43891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500" b="1">
                <a:solidFill>
                  <a:srgbClr val="2675C9"/>
                </a:solidFill>
                <a:latin typeface="Aptos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44752" y="2523744"/>
            <a:ext cx="1005840" cy="32004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1100" b="1">
                <a:solidFill>
                  <a:srgbClr val="17365D"/>
                </a:solidFill>
                <a:latin typeface="Aptos"/>
              </a:rPr>
              <a:t>Security mode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44752" y="2834640"/>
            <a:ext cx="1005840" cy="384048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900" b="0">
                <a:solidFill>
                  <a:srgbClr val="61748B"/>
                </a:solidFill>
                <a:latin typeface="Aptos"/>
              </a:rPr>
              <a:t>Armed / Disarmed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88920" y="2423160"/>
            <a:ext cx="1737360" cy="1051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2907791" y="2660904"/>
            <a:ext cx="438912" cy="438912"/>
          </a:xfrm>
          <a:prstGeom prst="ellipse">
            <a:avLst/>
          </a:prstGeom>
          <a:solidFill>
            <a:srgbClr val="FFF5E1"/>
          </a:solidFill>
          <a:ln>
            <a:solidFill>
              <a:srgbClr val="FFF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907791" y="2660904"/>
            <a:ext cx="438912" cy="43891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500" b="1">
                <a:solidFill>
                  <a:srgbClr val="A66A13"/>
                </a:solidFill>
                <a:latin typeface="Aptos"/>
              </a:rPr>
              <a:t>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10712" y="2523744"/>
            <a:ext cx="1005840" cy="32004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1100" b="1">
                <a:solidFill>
                  <a:srgbClr val="17365D"/>
                </a:solidFill>
                <a:latin typeface="Aptos"/>
              </a:rPr>
              <a:t>Door sensor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10712" y="2834640"/>
            <a:ext cx="1005840" cy="384048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900" b="0">
                <a:solidFill>
                  <a:srgbClr val="61748B"/>
                </a:solidFill>
                <a:latin typeface="Aptos"/>
              </a:rPr>
              <a:t>Open / Closed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754880" y="2423160"/>
            <a:ext cx="1737360" cy="1051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4873752" y="2660904"/>
            <a:ext cx="438912" cy="438912"/>
          </a:xfrm>
          <a:prstGeom prst="ellipse">
            <a:avLst/>
          </a:prstGeom>
          <a:solidFill>
            <a:srgbClr val="F2ECFF"/>
          </a:solidFill>
          <a:ln>
            <a:solidFill>
              <a:srgbClr val="F2E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873752" y="2660904"/>
            <a:ext cx="438912" cy="43891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500" b="1">
                <a:solidFill>
                  <a:srgbClr val="7855B8"/>
                </a:solidFill>
                <a:latin typeface="Aptos"/>
              </a:rPr>
              <a:t>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76672" y="2523744"/>
            <a:ext cx="1005840" cy="32004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1100" b="1">
                <a:solidFill>
                  <a:srgbClr val="17365D"/>
                </a:solidFill>
                <a:latin typeface="Aptos"/>
              </a:rPr>
              <a:t>Motion sensor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76672" y="2834640"/>
            <a:ext cx="1005840" cy="384048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900" b="0">
                <a:solidFill>
                  <a:srgbClr val="61748B"/>
                </a:solidFill>
                <a:latin typeface="Aptos"/>
              </a:rPr>
              <a:t>Detected / Clear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3675887"/>
            <a:ext cx="5943600" cy="32004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1400" b="1">
                <a:solidFill>
                  <a:srgbClr val="17365D"/>
                </a:solidFill>
                <a:latin typeface="Aptos"/>
              </a:rPr>
              <a:t>LOGIC FLOW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68680" y="4096512"/>
            <a:ext cx="1554480" cy="804672"/>
          </a:xfrm>
          <a:prstGeom prst="roundRect">
            <a:avLst>
              <a:gd name="adj" fmla="val 12000"/>
            </a:avLst>
          </a:prstGeom>
          <a:solidFill>
            <a:srgbClr val="EAF2FF"/>
          </a:solidFill>
          <a:ln w="12700">
            <a:solidFill>
              <a:srgbClr val="B9D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41832" y="4187952"/>
            <a:ext cx="1408176" cy="27432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/>
            <a:r>
              <a:rPr sz="1200" b="1">
                <a:solidFill>
                  <a:srgbClr val="17365D"/>
                </a:solidFill>
                <a:latin typeface="Aptos"/>
              </a:rPr>
              <a:t>OR GATE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1832" y="4480560"/>
            <a:ext cx="1408176" cy="237744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/>
            <a:r>
              <a:rPr sz="1000" b="0">
                <a:solidFill>
                  <a:srgbClr val="2675C9"/>
                </a:solidFill>
                <a:latin typeface="Aptos"/>
              </a:rPr>
              <a:t>D + M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926080" y="4096512"/>
            <a:ext cx="1554480" cy="804672"/>
          </a:xfrm>
          <a:prstGeom prst="roundRect">
            <a:avLst>
              <a:gd name="adj" fmla="val 12000"/>
            </a:avLst>
          </a:prstGeom>
          <a:solidFill>
            <a:srgbClr val="EAF2FF"/>
          </a:solidFill>
          <a:ln w="12700">
            <a:solidFill>
              <a:srgbClr val="B9D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2999232" y="4187952"/>
            <a:ext cx="1408176" cy="27432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/>
            <a:r>
              <a:rPr sz="1200" b="1">
                <a:solidFill>
                  <a:srgbClr val="17365D"/>
                </a:solidFill>
                <a:latin typeface="Aptos"/>
              </a:rPr>
              <a:t>AND GATE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999232" y="4480560"/>
            <a:ext cx="1408176" cy="237744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/>
            <a:r>
              <a:rPr sz="1000" b="0">
                <a:solidFill>
                  <a:srgbClr val="2675C9"/>
                </a:solidFill>
                <a:latin typeface="Aptos"/>
              </a:rPr>
              <a:t>A · Threat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983480" y="4096512"/>
            <a:ext cx="1554480" cy="804672"/>
          </a:xfrm>
          <a:prstGeom prst="roundRect">
            <a:avLst>
              <a:gd name="adj" fmla="val 12000"/>
            </a:avLst>
          </a:prstGeom>
          <a:solidFill>
            <a:srgbClr val="EAF2FF"/>
          </a:solidFill>
          <a:ln w="12700">
            <a:solidFill>
              <a:srgbClr val="B9D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056632" y="4187952"/>
            <a:ext cx="1408176" cy="27432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/>
            <a:r>
              <a:rPr sz="1200" b="1">
                <a:solidFill>
                  <a:srgbClr val="17365D"/>
                </a:solidFill>
                <a:latin typeface="Aptos"/>
              </a:rPr>
              <a:t>ALARM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56632" y="4480560"/>
            <a:ext cx="1408176" cy="237744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/>
            <a:r>
              <a:rPr sz="1000" b="0">
                <a:solidFill>
                  <a:srgbClr val="2675C9"/>
                </a:solidFill>
                <a:latin typeface="Aptos"/>
              </a:rPr>
              <a:t>ON / OFF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514600" y="4288536"/>
            <a:ext cx="320040" cy="36576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/>
            <a:r>
              <a:rPr sz="2000" b="1">
                <a:solidFill>
                  <a:srgbClr val="2675C9"/>
                </a:solidFill>
                <a:latin typeface="Aptos"/>
              </a:rPr>
              <a:t>→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0" y="4288536"/>
            <a:ext cx="320040" cy="36576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/>
            <a:r>
              <a:rPr sz="2000" b="1">
                <a:solidFill>
                  <a:srgbClr val="2675C9"/>
                </a:solidFill>
                <a:latin typeface="Aptos"/>
              </a:rPr>
              <a:t>→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96112" y="5138928"/>
            <a:ext cx="5852160" cy="384048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/>
            <a:r>
              <a:rPr sz="2100" b="1">
                <a:solidFill>
                  <a:srgbClr val="2675C9"/>
                </a:solidFill>
                <a:latin typeface="Aptos"/>
              </a:rPr>
              <a:t>ALARM = A · (D + M)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2688" y="5522976"/>
            <a:ext cx="5760720" cy="219456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/>
            <a:r>
              <a:rPr sz="1000" b="0">
                <a:solidFill>
                  <a:srgbClr val="61748B"/>
                </a:solidFill>
                <a:latin typeface="Aptos"/>
              </a:rPr>
              <a:t>Alarm activates only when armed AND a threat is detected.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607808" y="1417320"/>
            <a:ext cx="4005072" cy="1828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882127" y="1627632"/>
            <a:ext cx="3429000" cy="36576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1500" b="1">
                <a:solidFill>
                  <a:srgbClr val="17365D"/>
                </a:solidFill>
                <a:latin typeface="Aptos"/>
              </a:rPr>
              <a:t>TRY THESE SCENARIOS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909560" y="2039112"/>
            <a:ext cx="384048" cy="27432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1000" b="1">
                <a:solidFill>
                  <a:srgbClr val="2675C9"/>
                </a:solidFill>
                <a:latin typeface="Aptos"/>
              </a:rPr>
              <a:t>01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39327" y="2039112"/>
            <a:ext cx="1298448" cy="27432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1000" b="1">
                <a:solidFill>
                  <a:srgbClr val="17365D"/>
                </a:solidFill>
                <a:latin typeface="Aptos"/>
              </a:rPr>
              <a:t>Safe mode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619488" y="2039112"/>
            <a:ext cx="1719072" cy="27432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850" b="0">
                <a:solidFill>
                  <a:srgbClr val="61748B"/>
                </a:solidFill>
                <a:latin typeface="Aptos"/>
              </a:rPr>
              <a:t>Disarmed + door open → OFF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909560" y="2395728"/>
            <a:ext cx="384048" cy="27432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1000" b="1">
                <a:solidFill>
                  <a:srgbClr val="2675C9"/>
                </a:solidFill>
                <a:latin typeface="Aptos"/>
              </a:rPr>
              <a:t>02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39327" y="2395728"/>
            <a:ext cx="1298448" cy="27432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1000" b="1">
                <a:solidFill>
                  <a:srgbClr val="17365D"/>
                </a:solidFill>
                <a:latin typeface="Aptos"/>
              </a:rPr>
              <a:t>Door intrusion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619488" y="2395728"/>
            <a:ext cx="1719072" cy="27432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850" b="0">
                <a:solidFill>
                  <a:srgbClr val="61748B"/>
                </a:solidFill>
                <a:latin typeface="Aptos"/>
              </a:rPr>
              <a:t>Armed + door open → 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909560" y="2752344"/>
            <a:ext cx="384048" cy="27432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1000" b="1">
                <a:solidFill>
                  <a:srgbClr val="2675C9"/>
                </a:solidFill>
                <a:latin typeface="Aptos"/>
              </a:rPr>
              <a:t>03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39327" y="2752344"/>
            <a:ext cx="1298448" cy="27432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1000" b="1">
                <a:solidFill>
                  <a:srgbClr val="17365D"/>
                </a:solidFill>
                <a:latin typeface="Aptos"/>
              </a:rPr>
              <a:t>Motion intrusion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619488" y="2752344"/>
            <a:ext cx="1719072" cy="27432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850" b="0">
                <a:solidFill>
                  <a:srgbClr val="61748B"/>
                </a:solidFill>
                <a:latin typeface="Aptos"/>
              </a:rPr>
              <a:t>Armed + motion detected → ON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607808" y="3456432"/>
            <a:ext cx="4005072" cy="1143000"/>
          </a:xfrm>
          <a:prstGeom prst="roundRect">
            <a:avLst>
              <a:gd name="adj" fmla="val 12000"/>
            </a:avLst>
          </a:prstGeom>
          <a:solidFill>
            <a:srgbClr val="EAF2FF"/>
          </a:solidFill>
          <a:ln w="12700">
            <a:solidFill>
              <a:srgbClr val="B9D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7882127" y="3611880"/>
            <a:ext cx="3474720" cy="292608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1400" b="1">
                <a:solidFill>
                  <a:srgbClr val="17365D"/>
                </a:solidFill>
                <a:latin typeface="Aptos"/>
              </a:rPr>
              <a:t>OPEN THE WORKING DEMO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882127" y="3931920"/>
            <a:ext cx="3429000" cy="420624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1000" b="0">
                <a:solidFill>
                  <a:srgbClr val="61748B"/>
                </a:solidFill>
                <a:latin typeface="Aptos"/>
              </a:rPr>
              <a:t>Use the linked HTML prototype to toggle sensors and test the live truth table.</a:t>
            </a:r>
          </a:p>
        </p:txBody>
      </p:sp>
      <p:sp>
        <p:nvSpPr>
          <p:cNvPr id="51" name="Rounded Rectangle 50">
            <a:hlinkClick r:id="rId2"/>
          </p:cNvPr>
          <p:cNvSpPr/>
          <p:nvPr/>
        </p:nvSpPr>
        <p:spPr>
          <a:xfrm>
            <a:off x="7882127" y="4800600"/>
            <a:ext cx="3456432" cy="566928"/>
          </a:xfrm>
          <a:prstGeom prst="roundRect">
            <a:avLst>
              <a:gd name="adj" fmla="val 12000"/>
            </a:avLst>
          </a:prstGeom>
          <a:solidFill>
            <a:srgbClr val="2675C9"/>
          </a:solidFill>
          <a:ln w="12700">
            <a:solidFill>
              <a:srgbClr val="267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>
            <a:hlinkClick r:id="rId2"/>
          </p:cNvPr>
          <p:cNvSpPr txBox="1"/>
          <p:nvPr/>
        </p:nvSpPr>
        <p:spPr>
          <a:xfrm>
            <a:off x="8001000" y="4855464"/>
            <a:ext cx="3200400" cy="42062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OPEN INTERACTIVE PROTOTYPE  ↗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882127" y="5532120"/>
            <a:ext cx="3566160" cy="32004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900" b="0">
                <a:solidFill>
                  <a:srgbClr val="61748B"/>
                </a:solidFill>
                <a:latin typeface="Aptos"/>
              </a:rPr>
              <a:t>Keep the HTML file in the same folder as this PPT.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30352" y="6263640"/>
            <a:ext cx="10972800" cy="22860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/>
            <a:r>
              <a:rPr sz="900" b="0">
                <a:solidFill>
                  <a:srgbClr val="61748B"/>
                </a:solidFill>
                <a:latin typeface="Aptos"/>
              </a:rPr>
              <a:t>CLASSROOM SIMULATION ONLY  •  No physical sensors or real alarm are connected.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753</Words>
  <Application>Microsoft Office PowerPoint</Application>
  <PresentationFormat>Widescreen</PresentationFormat>
  <Paragraphs>163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rohit danda</dc:creator>
  <cp:keywords/>
  <dc:description>generated using python-pptx</dc:description>
  <cp:lastModifiedBy>rohit danda</cp:lastModifiedBy>
  <cp:revision>2</cp:revision>
  <dcterms:created xsi:type="dcterms:W3CDTF">2013-01-27T09:14:16Z</dcterms:created>
  <dcterms:modified xsi:type="dcterms:W3CDTF">2026-10-15T03:13:05Z</dcterms:modified>
  <cp:category/>
</cp:coreProperties>
</file>